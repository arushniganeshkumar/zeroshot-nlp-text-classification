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1" r:id="rId6"/>
    <p:sldId id="263" r:id="rId7"/>
    <p:sldId id="264" r:id="rId8"/>
    <p:sldId id="268" r:id="rId9"/>
    <p:sldId id="266" r:id="rId10"/>
    <p:sldId id="267" r:id="rId11"/>
    <p:sldId id="260" r:id="rId12"/>
  </p:sldIdLst>
  <p:sldSz cx="18288000" cy="10287000"/>
  <p:notesSz cx="6858000" cy="9144000"/>
  <p:embeddedFontLst>
    <p:embeddedFont>
      <p:font typeface="Bernoru" panose="020B0604020202020204" charset="0"/>
      <p:regular r:id="rId14"/>
    </p:embeddedFont>
    <p:embeddedFont>
      <p:font typeface="Californian FB" panose="0207040306080B030204" pitchFamily="18" charset="0"/>
      <p:regular r:id="rId15"/>
      <p:bold r:id="rId16"/>
      <p:italic r:id="rId17"/>
    </p:embeddedFont>
    <p:embeddedFont>
      <p:font typeface="Magnolia Script"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8432" autoAdjust="0"/>
  </p:normalViewPr>
  <p:slideViewPr>
    <p:cSldViewPr>
      <p:cViewPr varScale="1">
        <p:scale>
          <a:sx n="37" d="100"/>
          <a:sy n="37" d="100"/>
        </p:scale>
        <p:origin x="106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FB1F4F-5ADB-46F4-B488-0CC730F633D7}" type="datetimeFigureOut">
              <a:rPr lang="en-IN" smtClean="0"/>
              <a:t>15-07-2025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7B19A-BD60-4E25-B475-83082EA784C9}" type="slidenum">
              <a:rPr lang="en-IN" smtClean="0"/>
              <a:t>‹#›</a:t>
            </a:fld>
            <a:endParaRPr lang="en-IN"/>
          </a:p>
        </p:txBody>
      </p:sp>
    </p:spTree>
    <p:extLst>
      <p:ext uri="{BB962C8B-B14F-4D97-AF65-F5344CB8AC3E}">
        <p14:creationId xmlns:p14="http://schemas.microsoft.com/office/powerpoint/2010/main" val="1408859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67B19A-BD60-4E25-B475-83082EA784C9}" type="slidenum">
              <a:rPr lang="en-IN" smtClean="0"/>
              <a:t>7</a:t>
            </a:fld>
            <a:endParaRPr lang="en-IN"/>
          </a:p>
        </p:txBody>
      </p:sp>
    </p:spTree>
    <p:extLst>
      <p:ext uri="{BB962C8B-B14F-4D97-AF65-F5344CB8AC3E}">
        <p14:creationId xmlns:p14="http://schemas.microsoft.com/office/powerpoint/2010/main" val="37145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svg"/><Relationship Id="rId7"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4.sv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2.sv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0310" y="-738195"/>
            <a:ext cx="5620930" cy="5509404"/>
          </a:xfrm>
          <a:custGeom>
            <a:avLst/>
            <a:gdLst/>
            <a:ahLst/>
            <a:cxnLst/>
            <a:rect l="l" t="t" r="r" b="b"/>
            <a:pathLst>
              <a:path w="5620930" h="5509404">
                <a:moveTo>
                  <a:pt x="0" y="0"/>
                </a:moveTo>
                <a:lnTo>
                  <a:pt x="5620930" y="0"/>
                </a:lnTo>
                <a:lnTo>
                  <a:pt x="5620930" y="5509403"/>
                </a:lnTo>
                <a:lnTo>
                  <a:pt x="0" y="5509403"/>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p:cNvSpPr/>
          <p:nvPr/>
        </p:nvSpPr>
        <p:spPr>
          <a:xfrm flipH="1">
            <a:off x="14448835" y="-738195"/>
            <a:ext cx="5620930" cy="5509404"/>
          </a:xfrm>
          <a:custGeom>
            <a:avLst/>
            <a:gdLst/>
            <a:ahLst/>
            <a:cxnLst/>
            <a:rect l="l" t="t" r="r" b="b"/>
            <a:pathLst>
              <a:path w="5620930" h="5509404">
                <a:moveTo>
                  <a:pt x="5620930" y="0"/>
                </a:moveTo>
                <a:lnTo>
                  <a:pt x="0" y="0"/>
                </a:lnTo>
                <a:lnTo>
                  <a:pt x="0" y="5509403"/>
                </a:lnTo>
                <a:lnTo>
                  <a:pt x="5620930" y="5509403"/>
                </a:lnTo>
                <a:lnTo>
                  <a:pt x="562093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4" name="Freeform 4"/>
          <p:cNvSpPr/>
          <p:nvPr/>
        </p:nvSpPr>
        <p:spPr>
          <a:xfrm flipV="1">
            <a:off x="-1823646" y="6027368"/>
            <a:ext cx="5247619" cy="5143500"/>
          </a:xfrm>
          <a:custGeom>
            <a:avLst/>
            <a:gdLst/>
            <a:ahLst/>
            <a:cxnLst/>
            <a:rect l="l" t="t" r="r" b="b"/>
            <a:pathLst>
              <a:path w="5247619" h="5143500">
                <a:moveTo>
                  <a:pt x="0" y="5143500"/>
                </a:moveTo>
                <a:lnTo>
                  <a:pt x="5247620" y="5143500"/>
                </a:lnTo>
                <a:lnTo>
                  <a:pt x="5247620" y="0"/>
                </a:lnTo>
                <a:lnTo>
                  <a:pt x="0" y="0"/>
                </a:lnTo>
                <a:lnTo>
                  <a:pt x="0"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5" name="Freeform 5"/>
          <p:cNvSpPr/>
          <p:nvPr/>
        </p:nvSpPr>
        <p:spPr>
          <a:xfrm flipH="1" flipV="1">
            <a:off x="14864026" y="6027368"/>
            <a:ext cx="5247619" cy="5143500"/>
          </a:xfrm>
          <a:custGeom>
            <a:avLst/>
            <a:gdLst/>
            <a:ahLst/>
            <a:cxnLst/>
            <a:rect l="l" t="t" r="r" b="b"/>
            <a:pathLst>
              <a:path w="5247619" h="5143500">
                <a:moveTo>
                  <a:pt x="5247620" y="5143500"/>
                </a:moveTo>
                <a:lnTo>
                  <a:pt x="0" y="5143500"/>
                </a:lnTo>
                <a:lnTo>
                  <a:pt x="0" y="0"/>
                </a:lnTo>
                <a:lnTo>
                  <a:pt x="5247620" y="0"/>
                </a:lnTo>
                <a:lnTo>
                  <a:pt x="5247620"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6" name="Group 6"/>
          <p:cNvGrpSpPr/>
          <p:nvPr/>
        </p:nvGrpSpPr>
        <p:grpSpPr>
          <a:xfrm>
            <a:off x="2254902" y="2364875"/>
            <a:ext cx="13899652" cy="5420498"/>
            <a:chOff x="0" y="0"/>
            <a:chExt cx="3660814" cy="1427621"/>
          </a:xfrm>
        </p:grpSpPr>
        <p:sp>
          <p:nvSpPr>
            <p:cNvPr id="7" name="Freeform 7"/>
            <p:cNvSpPr/>
            <p:nvPr/>
          </p:nvSpPr>
          <p:spPr>
            <a:xfrm>
              <a:off x="0" y="0"/>
              <a:ext cx="3660814" cy="1427621"/>
            </a:xfrm>
            <a:custGeom>
              <a:avLst/>
              <a:gdLst/>
              <a:ahLst/>
              <a:cxnLst/>
              <a:rect l="l" t="t" r="r" b="b"/>
              <a:pathLst>
                <a:path w="3660814" h="1427621">
                  <a:moveTo>
                    <a:pt x="28406" y="0"/>
                  </a:moveTo>
                  <a:lnTo>
                    <a:pt x="3632407" y="0"/>
                  </a:lnTo>
                  <a:cubicBezTo>
                    <a:pt x="3639941" y="0"/>
                    <a:pt x="3647167" y="2993"/>
                    <a:pt x="3652494" y="8320"/>
                  </a:cubicBezTo>
                  <a:cubicBezTo>
                    <a:pt x="3657821" y="13647"/>
                    <a:pt x="3660814" y="20872"/>
                    <a:pt x="3660814" y="28406"/>
                  </a:cubicBezTo>
                  <a:lnTo>
                    <a:pt x="3660814" y="1399215"/>
                  </a:lnTo>
                  <a:cubicBezTo>
                    <a:pt x="3660814" y="1406748"/>
                    <a:pt x="3657821" y="1413974"/>
                    <a:pt x="3652494" y="1419301"/>
                  </a:cubicBezTo>
                  <a:cubicBezTo>
                    <a:pt x="3647167" y="1424628"/>
                    <a:pt x="3639941" y="1427621"/>
                    <a:pt x="3632407" y="1427621"/>
                  </a:cubicBezTo>
                  <a:lnTo>
                    <a:pt x="28406" y="1427621"/>
                  </a:lnTo>
                  <a:cubicBezTo>
                    <a:pt x="12718" y="1427621"/>
                    <a:pt x="0" y="1414903"/>
                    <a:pt x="0" y="1399215"/>
                  </a:cubicBezTo>
                  <a:lnTo>
                    <a:pt x="0" y="28406"/>
                  </a:lnTo>
                  <a:cubicBezTo>
                    <a:pt x="0" y="12718"/>
                    <a:pt x="12718" y="0"/>
                    <a:pt x="28406" y="0"/>
                  </a:cubicBezTo>
                  <a:close/>
                </a:path>
              </a:pathLst>
            </a:custGeom>
            <a:solidFill>
              <a:srgbClr val="5EB2BA"/>
            </a:solidFill>
          </p:spPr>
          <p:txBody>
            <a:bodyPr/>
            <a:lstStyle/>
            <a:p>
              <a:endParaRPr lang="en-IN"/>
            </a:p>
          </p:txBody>
        </p:sp>
        <p:sp>
          <p:nvSpPr>
            <p:cNvPr id="8" name="TextBox 8"/>
            <p:cNvSpPr txBox="1"/>
            <p:nvPr/>
          </p:nvSpPr>
          <p:spPr>
            <a:xfrm>
              <a:off x="0" y="-28575"/>
              <a:ext cx="3660814" cy="145619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2374198" y="3692452"/>
            <a:ext cx="4792863" cy="3764576"/>
          </a:xfrm>
          <a:custGeom>
            <a:avLst/>
            <a:gdLst/>
            <a:ahLst/>
            <a:cxnLst/>
            <a:rect l="l" t="t" r="r" b="b"/>
            <a:pathLst>
              <a:path w="4792863" h="3764576">
                <a:moveTo>
                  <a:pt x="0" y="0"/>
                </a:moveTo>
                <a:lnTo>
                  <a:pt x="4792863" y="0"/>
                </a:lnTo>
                <a:lnTo>
                  <a:pt x="4792863" y="3764577"/>
                </a:lnTo>
                <a:lnTo>
                  <a:pt x="0" y="37645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TextBox 10"/>
          <p:cNvSpPr txBox="1"/>
          <p:nvPr/>
        </p:nvSpPr>
        <p:spPr>
          <a:xfrm>
            <a:off x="6708872" y="3692452"/>
            <a:ext cx="9067044" cy="2841142"/>
          </a:xfrm>
          <a:prstGeom prst="rect">
            <a:avLst/>
          </a:prstGeom>
        </p:spPr>
        <p:txBody>
          <a:bodyPr lIns="0" tIns="0" rIns="0" bIns="0" rtlCol="0" anchor="t">
            <a:spAutoFit/>
          </a:bodyPr>
          <a:lstStyle/>
          <a:p>
            <a:pPr algn="ctr">
              <a:lnSpc>
                <a:spcPts val="5598"/>
              </a:lnSpc>
            </a:pPr>
            <a:r>
              <a:rPr lang="en-US" sz="4665" dirty="0">
                <a:solidFill>
                  <a:srgbClr val="FFFFFF"/>
                </a:solidFill>
                <a:latin typeface="Bernoru"/>
                <a:ea typeface="Bernoru"/>
                <a:cs typeface="Bernoru"/>
                <a:sym typeface="Bernoru"/>
              </a:rPr>
              <a:t>ZERO-SHOT LEARNING FOR RARE DISEASE DIAGNOSIS USING TEXTUAL SYMPTOM DESCRIPTIONS</a:t>
            </a:r>
          </a:p>
        </p:txBody>
      </p:sp>
      <p:sp>
        <p:nvSpPr>
          <p:cNvPr id="11" name="Freeform 11"/>
          <p:cNvSpPr/>
          <p:nvPr/>
        </p:nvSpPr>
        <p:spPr>
          <a:xfrm>
            <a:off x="14316790" y="6543837"/>
            <a:ext cx="2462033" cy="1826381"/>
          </a:xfrm>
          <a:custGeom>
            <a:avLst/>
            <a:gdLst/>
            <a:ahLst/>
            <a:cxnLst/>
            <a:rect l="l" t="t" r="r" b="b"/>
            <a:pathLst>
              <a:path w="2462033" h="1826381">
                <a:moveTo>
                  <a:pt x="0" y="0"/>
                </a:moveTo>
                <a:lnTo>
                  <a:pt x="2462033" y="0"/>
                </a:lnTo>
                <a:lnTo>
                  <a:pt x="2462033" y="1826381"/>
                </a:lnTo>
                <a:lnTo>
                  <a:pt x="0" y="1826381"/>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2" name="Freeform 12"/>
          <p:cNvSpPr/>
          <p:nvPr/>
        </p:nvSpPr>
        <p:spPr>
          <a:xfrm flipH="1">
            <a:off x="2194174" y="1416042"/>
            <a:ext cx="689974" cy="732598"/>
          </a:xfrm>
          <a:custGeom>
            <a:avLst/>
            <a:gdLst/>
            <a:ahLst/>
            <a:cxnLst/>
            <a:rect l="l" t="t" r="r" b="b"/>
            <a:pathLst>
              <a:path w="689974" h="732598">
                <a:moveTo>
                  <a:pt x="689974" y="0"/>
                </a:moveTo>
                <a:lnTo>
                  <a:pt x="0" y="0"/>
                </a:lnTo>
                <a:lnTo>
                  <a:pt x="0" y="732598"/>
                </a:lnTo>
                <a:lnTo>
                  <a:pt x="689974" y="732598"/>
                </a:lnTo>
                <a:lnTo>
                  <a:pt x="689974"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3" name="Freeform 13"/>
          <p:cNvSpPr/>
          <p:nvPr/>
        </p:nvSpPr>
        <p:spPr>
          <a:xfrm flipH="1">
            <a:off x="12674395" y="757816"/>
            <a:ext cx="1914796" cy="1503985"/>
          </a:xfrm>
          <a:custGeom>
            <a:avLst/>
            <a:gdLst/>
            <a:ahLst/>
            <a:cxnLst/>
            <a:rect l="l" t="t" r="r" b="b"/>
            <a:pathLst>
              <a:path w="1914796" h="1503985">
                <a:moveTo>
                  <a:pt x="1914796" y="0"/>
                </a:moveTo>
                <a:lnTo>
                  <a:pt x="0" y="0"/>
                </a:lnTo>
                <a:lnTo>
                  <a:pt x="0" y="1503985"/>
                </a:lnTo>
                <a:lnTo>
                  <a:pt x="1914796" y="1503985"/>
                </a:lnTo>
                <a:lnTo>
                  <a:pt x="1914796"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14" name="Freeform 14"/>
          <p:cNvSpPr/>
          <p:nvPr/>
        </p:nvSpPr>
        <p:spPr>
          <a:xfrm flipV="1">
            <a:off x="3423974" y="8272849"/>
            <a:ext cx="1914796" cy="1503985"/>
          </a:xfrm>
          <a:custGeom>
            <a:avLst/>
            <a:gdLst/>
            <a:ahLst/>
            <a:cxnLst/>
            <a:rect l="l" t="t" r="r" b="b"/>
            <a:pathLst>
              <a:path w="1914796" h="1503985">
                <a:moveTo>
                  <a:pt x="0" y="1503985"/>
                </a:moveTo>
                <a:lnTo>
                  <a:pt x="1914795" y="1503985"/>
                </a:lnTo>
                <a:lnTo>
                  <a:pt x="1914795" y="0"/>
                </a:lnTo>
                <a:lnTo>
                  <a:pt x="0" y="0"/>
                </a:lnTo>
                <a:lnTo>
                  <a:pt x="0" y="1503985"/>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4" name="Group 4"/>
          <p:cNvGrpSpPr/>
          <p:nvPr/>
        </p:nvGrpSpPr>
        <p:grpSpPr>
          <a:xfrm>
            <a:off x="3527662" y="3603627"/>
            <a:ext cx="11232676" cy="4532810"/>
            <a:chOff x="0" y="0"/>
            <a:chExt cx="3525086" cy="1422505"/>
          </a:xfrm>
        </p:grpSpPr>
        <p:sp>
          <p:nvSpPr>
            <p:cNvPr id="5" name="Freeform 5"/>
            <p:cNvSpPr/>
            <p:nvPr/>
          </p:nvSpPr>
          <p:spPr>
            <a:xfrm>
              <a:off x="0" y="0"/>
              <a:ext cx="3525086" cy="1422505"/>
            </a:xfrm>
            <a:custGeom>
              <a:avLst/>
              <a:gdLst/>
              <a:ahLst/>
              <a:cxnLst/>
              <a:rect l="l" t="t" r="r" b="b"/>
              <a:pathLst>
                <a:path w="3525086" h="1422505">
                  <a:moveTo>
                    <a:pt x="35151" y="0"/>
                  </a:moveTo>
                  <a:lnTo>
                    <a:pt x="3489935" y="0"/>
                  </a:lnTo>
                  <a:cubicBezTo>
                    <a:pt x="3499257" y="0"/>
                    <a:pt x="3508198" y="3703"/>
                    <a:pt x="3514790" y="10295"/>
                  </a:cubicBezTo>
                  <a:cubicBezTo>
                    <a:pt x="3521382" y="16888"/>
                    <a:pt x="3525086" y="25828"/>
                    <a:pt x="3525086" y="35151"/>
                  </a:cubicBezTo>
                  <a:lnTo>
                    <a:pt x="3525086" y="1387354"/>
                  </a:lnTo>
                  <a:cubicBezTo>
                    <a:pt x="3525086" y="1406768"/>
                    <a:pt x="3509348" y="1422505"/>
                    <a:pt x="3489935" y="1422505"/>
                  </a:cubicBezTo>
                  <a:lnTo>
                    <a:pt x="35151" y="1422505"/>
                  </a:lnTo>
                  <a:cubicBezTo>
                    <a:pt x="25828" y="1422505"/>
                    <a:pt x="16888" y="1418802"/>
                    <a:pt x="10295" y="1412210"/>
                  </a:cubicBezTo>
                  <a:cubicBezTo>
                    <a:pt x="3703" y="1405618"/>
                    <a:pt x="0" y="1396677"/>
                    <a:pt x="0" y="1387354"/>
                  </a:cubicBezTo>
                  <a:lnTo>
                    <a:pt x="0" y="35151"/>
                  </a:lnTo>
                  <a:cubicBezTo>
                    <a:pt x="0" y="25828"/>
                    <a:pt x="3703" y="16888"/>
                    <a:pt x="10295" y="10295"/>
                  </a:cubicBezTo>
                  <a:cubicBezTo>
                    <a:pt x="16888" y="3703"/>
                    <a:pt x="25828" y="0"/>
                    <a:pt x="35151" y="0"/>
                  </a:cubicBezTo>
                  <a:close/>
                </a:path>
              </a:pathLst>
            </a:custGeom>
            <a:solidFill>
              <a:srgbClr val="5EB2BA"/>
            </a:solidFill>
          </p:spPr>
          <p:txBody>
            <a:bodyPr/>
            <a:lstStyle/>
            <a:p>
              <a:endParaRPr lang="en-IN"/>
            </a:p>
          </p:txBody>
        </p:sp>
        <p:sp>
          <p:nvSpPr>
            <p:cNvPr id="6" name="TextBox 6"/>
            <p:cNvSpPr txBox="1"/>
            <p:nvPr/>
          </p:nvSpPr>
          <p:spPr>
            <a:xfrm>
              <a:off x="0" y="-28575"/>
              <a:ext cx="3525086" cy="145108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681372" y="7639690"/>
            <a:ext cx="1082024" cy="993495"/>
          </a:xfrm>
          <a:custGeom>
            <a:avLst/>
            <a:gdLst/>
            <a:ahLst/>
            <a:cxnLst/>
            <a:rect l="l" t="t" r="r" b="b"/>
            <a:pathLst>
              <a:path w="1082024" h="993495">
                <a:moveTo>
                  <a:pt x="0" y="0"/>
                </a:moveTo>
                <a:lnTo>
                  <a:pt x="1082024" y="0"/>
                </a:lnTo>
                <a:lnTo>
                  <a:pt x="1082024" y="993494"/>
                </a:lnTo>
                <a:lnTo>
                  <a:pt x="0" y="99349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8" name="Freeform 8"/>
          <p:cNvSpPr/>
          <p:nvPr/>
        </p:nvSpPr>
        <p:spPr>
          <a:xfrm>
            <a:off x="1763396" y="8380061"/>
            <a:ext cx="721352" cy="662333"/>
          </a:xfrm>
          <a:custGeom>
            <a:avLst/>
            <a:gdLst/>
            <a:ahLst/>
            <a:cxnLst/>
            <a:rect l="l" t="t" r="r" b="b"/>
            <a:pathLst>
              <a:path w="721352" h="662333">
                <a:moveTo>
                  <a:pt x="0" y="0"/>
                </a:moveTo>
                <a:lnTo>
                  <a:pt x="721352" y="0"/>
                </a:lnTo>
                <a:lnTo>
                  <a:pt x="721352" y="662332"/>
                </a:lnTo>
                <a:lnTo>
                  <a:pt x="0" y="66233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9" name="Freeform 9"/>
          <p:cNvSpPr/>
          <p:nvPr/>
        </p:nvSpPr>
        <p:spPr>
          <a:xfrm>
            <a:off x="1103400" y="9133931"/>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10" name="Freeform 10"/>
          <p:cNvSpPr/>
          <p:nvPr/>
        </p:nvSpPr>
        <p:spPr>
          <a:xfrm flipH="1">
            <a:off x="14961045" y="615014"/>
            <a:ext cx="2298255" cy="827372"/>
          </a:xfrm>
          <a:custGeom>
            <a:avLst/>
            <a:gdLst/>
            <a:ahLst/>
            <a:cxnLst/>
            <a:rect l="l" t="t" r="r" b="b"/>
            <a:pathLst>
              <a:path w="2298255" h="827372">
                <a:moveTo>
                  <a:pt x="2298255" y="0"/>
                </a:moveTo>
                <a:lnTo>
                  <a:pt x="0" y="0"/>
                </a:lnTo>
                <a:lnTo>
                  <a:pt x="0" y="827372"/>
                </a:lnTo>
                <a:lnTo>
                  <a:pt x="2298255" y="827372"/>
                </a:lnTo>
                <a:lnTo>
                  <a:pt x="2298255"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pic>
        <p:nvPicPr>
          <p:cNvPr id="11" name="Picture 11"/>
          <p:cNvPicPr>
            <a:picLocks noChangeAspect="1"/>
          </p:cNvPicPr>
          <p:nvPr/>
        </p:nvPicPr>
        <p:blipFill>
          <a:blip r:embed="rId8"/>
          <a:srcRect l="98" r="98"/>
          <a:stretch>
            <a:fillRect/>
          </a:stretch>
        </p:blipFill>
        <p:spPr>
          <a:xfrm>
            <a:off x="1487308" y="1442386"/>
            <a:ext cx="3073210" cy="3073210"/>
          </a:xfrm>
          <a:prstGeom prst="rect">
            <a:avLst/>
          </a:prstGeom>
        </p:spPr>
      </p:pic>
      <p:pic>
        <p:nvPicPr>
          <p:cNvPr id="12" name="Picture 12"/>
          <p:cNvPicPr>
            <a:picLocks noChangeAspect="1"/>
          </p:cNvPicPr>
          <p:nvPr/>
        </p:nvPicPr>
        <p:blipFill>
          <a:blip r:embed="rId8"/>
          <a:srcRect l="98" r="98"/>
          <a:stretch>
            <a:fillRect/>
          </a:stretch>
        </p:blipFill>
        <p:spPr>
          <a:xfrm>
            <a:off x="13579482" y="7123187"/>
            <a:ext cx="2738880" cy="2738880"/>
          </a:xfrm>
          <a:prstGeom prst="rect">
            <a:avLst/>
          </a:prstGeom>
        </p:spPr>
      </p:pic>
      <p:sp>
        <p:nvSpPr>
          <p:cNvPr id="13" name="TextBox 13"/>
          <p:cNvSpPr txBox="1"/>
          <p:nvPr/>
        </p:nvSpPr>
        <p:spPr>
          <a:xfrm>
            <a:off x="3527662" y="1912482"/>
            <a:ext cx="11232676" cy="821944"/>
          </a:xfrm>
          <a:prstGeom prst="rect">
            <a:avLst/>
          </a:prstGeom>
        </p:spPr>
        <p:txBody>
          <a:bodyPr lIns="0" tIns="0" rIns="0" bIns="0" rtlCol="0" anchor="t">
            <a:spAutoFit/>
          </a:bodyPr>
          <a:lstStyle/>
          <a:p>
            <a:pPr algn="ctr">
              <a:lnSpc>
                <a:spcPts val="6413"/>
              </a:lnSpc>
            </a:pPr>
            <a:r>
              <a:rPr lang="en-US" sz="5300">
                <a:solidFill>
                  <a:srgbClr val="0A8271"/>
                </a:solidFill>
                <a:latin typeface="Bernoru"/>
                <a:ea typeface="Bernoru"/>
                <a:cs typeface="Bernoru"/>
                <a:sym typeface="Bernoru"/>
              </a:rPr>
              <a:t>INTRODUCTION</a:t>
            </a:r>
          </a:p>
        </p:txBody>
      </p:sp>
      <p:sp>
        <p:nvSpPr>
          <p:cNvPr id="14" name="TextBox 14"/>
          <p:cNvSpPr txBox="1"/>
          <p:nvPr/>
        </p:nvSpPr>
        <p:spPr>
          <a:xfrm>
            <a:off x="3851650" y="4005125"/>
            <a:ext cx="10584700" cy="3887667"/>
          </a:xfrm>
          <a:prstGeom prst="rect">
            <a:avLst/>
          </a:prstGeom>
        </p:spPr>
        <p:txBody>
          <a:bodyPr lIns="0" tIns="0" rIns="0" bIns="0" rtlCol="0" anchor="t">
            <a:spAutoFit/>
          </a:bodyPr>
          <a:lstStyle/>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Rare diseases affect a small number of people, but are large in number globally</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Most rare diseases lack enough patient data for AI training</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Traditional AI needs many labeled examples to learn</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Zero-Shot Learning (ZSL) can predict diseases without training on specific examples</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ZSL uses textual symptom descriptions to make predictions</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Helpful in medical settings where data is limited but decision-making is critical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p:cNvGrpSpPr/>
          <p:nvPr/>
        </p:nvGrpSpPr>
        <p:grpSpPr>
          <a:xfrm>
            <a:off x="3049678" y="3851122"/>
            <a:ext cx="12188644" cy="4309474"/>
            <a:chOff x="0" y="0"/>
            <a:chExt cx="3618604" cy="1279410"/>
          </a:xfrm>
        </p:grpSpPr>
        <p:sp>
          <p:nvSpPr>
            <p:cNvPr id="4" name="Freeform 4"/>
            <p:cNvSpPr/>
            <p:nvPr/>
          </p:nvSpPr>
          <p:spPr>
            <a:xfrm>
              <a:off x="0" y="0"/>
              <a:ext cx="3618604" cy="1279410"/>
            </a:xfrm>
            <a:custGeom>
              <a:avLst/>
              <a:gdLst/>
              <a:ahLst/>
              <a:cxnLst/>
              <a:rect l="l" t="t" r="r" b="b"/>
              <a:pathLst>
                <a:path w="3618604" h="1279410">
                  <a:moveTo>
                    <a:pt x="32394" y="0"/>
                  </a:moveTo>
                  <a:lnTo>
                    <a:pt x="3586210" y="0"/>
                  </a:lnTo>
                  <a:cubicBezTo>
                    <a:pt x="3594802" y="0"/>
                    <a:pt x="3603041" y="3413"/>
                    <a:pt x="3609116" y="9488"/>
                  </a:cubicBezTo>
                  <a:cubicBezTo>
                    <a:pt x="3615191" y="15563"/>
                    <a:pt x="3618604" y="23803"/>
                    <a:pt x="3618604" y="32394"/>
                  </a:cubicBezTo>
                  <a:lnTo>
                    <a:pt x="3618604" y="1247017"/>
                  </a:lnTo>
                  <a:cubicBezTo>
                    <a:pt x="3618604" y="1255608"/>
                    <a:pt x="3615191" y="1263847"/>
                    <a:pt x="3609116" y="1269922"/>
                  </a:cubicBezTo>
                  <a:cubicBezTo>
                    <a:pt x="3603041" y="1275998"/>
                    <a:pt x="3594802" y="1279410"/>
                    <a:pt x="3586210" y="1279410"/>
                  </a:cubicBezTo>
                  <a:lnTo>
                    <a:pt x="32394" y="1279410"/>
                  </a:lnTo>
                  <a:cubicBezTo>
                    <a:pt x="14503" y="1279410"/>
                    <a:pt x="0" y="1264907"/>
                    <a:pt x="0" y="1247017"/>
                  </a:cubicBezTo>
                  <a:lnTo>
                    <a:pt x="0" y="32394"/>
                  </a:lnTo>
                  <a:cubicBezTo>
                    <a:pt x="0" y="23803"/>
                    <a:pt x="3413" y="15563"/>
                    <a:pt x="9488" y="9488"/>
                  </a:cubicBezTo>
                  <a:cubicBezTo>
                    <a:pt x="15563" y="3413"/>
                    <a:pt x="23803" y="0"/>
                    <a:pt x="32394" y="0"/>
                  </a:cubicBezTo>
                  <a:close/>
                </a:path>
              </a:pathLst>
            </a:custGeom>
            <a:solidFill>
              <a:srgbClr val="5EB2BA"/>
            </a:solidFill>
          </p:spPr>
          <p:txBody>
            <a:bodyPr/>
            <a:lstStyle/>
            <a:p>
              <a:endParaRPr lang="en-IN"/>
            </a:p>
          </p:txBody>
        </p:sp>
        <p:sp>
          <p:nvSpPr>
            <p:cNvPr id="5" name="TextBox 5"/>
            <p:cNvSpPr txBox="1"/>
            <p:nvPr/>
          </p:nvSpPr>
          <p:spPr>
            <a:xfrm>
              <a:off x="0" y="-28575"/>
              <a:ext cx="3618604" cy="1307985"/>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318513" y="4544026"/>
            <a:ext cx="2986666" cy="3650369"/>
          </a:xfrm>
          <a:custGeom>
            <a:avLst/>
            <a:gdLst/>
            <a:ahLst/>
            <a:cxnLst/>
            <a:rect l="l" t="t" r="r" b="b"/>
            <a:pathLst>
              <a:path w="2986666" h="3650369">
                <a:moveTo>
                  <a:pt x="0" y="0"/>
                </a:moveTo>
                <a:lnTo>
                  <a:pt x="2986666" y="0"/>
                </a:lnTo>
                <a:lnTo>
                  <a:pt x="2986666" y="3650369"/>
                </a:lnTo>
                <a:lnTo>
                  <a:pt x="0" y="36503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3318513" y="1727835"/>
            <a:ext cx="9527828" cy="963650"/>
          </a:xfrm>
          <a:prstGeom prst="rect">
            <a:avLst/>
          </a:prstGeom>
        </p:spPr>
        <p:txBody>
          <a:bodyPr lIns="0" tIns="0" rIns="0" bIns="0" rtlCol="0" anchor="t">
            <a:spAutoFit/>
          </a:bodyPr>
          <a:lstStyle/>
          <a:p>
            <a:pPr algn="l">
              <a:lnSpc>
                <a:spcPts val="7527"/>
              </a:lnSpc>
            </a:pPr>
            <a:r>
              <a:rPr lang="en-US" sz="6220">
                <a:solidFill>
                  <a:srgbClr val="0A8271"/>
                </a:solidFill>
                <a:latin typeface="Bernoru"/>
                <a:ea typeface="Bernoru"/>
                <a:cs typeface="Bernoru"/>
                <a:sym typeface="Bernoru"/>
              </a:rPr>
              <a:t>PROBLEM STATEMENT</a:t>
            </a:r>
          </a:p>
        </p:txBody>
      </p:sp>
      <p:sp>
        <p:nvSpPr>
          <p:cNvPr id="8" name="Freeform 8"/>
          <p:cNvSpPr/>
          <p:nvPr/>
        </p:nvSpPr>
        <p:spPr>
          <a:xfrm flipH="1" flipV="1">
            <a:off x="14961045" y="615014"/>
            <a:ext cx="2298255" cy="827372"/>
          </a:xfrm>
          <a:custGeom>
            <a:avLst/>
            <a:gdLst/>
            <a:ahLst/>
            <a:cxnLst/>
            <a:rect l="l" t="t" r="r" b="b"/>
            <a:pathLst>
              <a:path w="2298255" h="827372">
                <a:moveTo>
                  <a:pt x="2298255" y="827372"/>
                </a:moveTo>
                <a:lnTo>
                  <a:pt x="0" y="827372"/>
                </a:lnTo>
                <a:lnTo>
                  <a:pt x="0" y="0"/>
                </a:lnTo>
                <a:lnTo>
                  <a:pt x="2298255" y="0"/>
                </a:lnTo>
                <a:lnTo>
                  <a:pt x="2298255" y="827372"/>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9" name="Freeform 9"/>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10" name="Freeform 10"/>
          <p:cNvSpPr/>
          <p:nvPr/>
        </p:nvSpPr>
        <p:spPr>
          <a:xfrm>
            <a:off x="32989" y="8186762"/>
            <a:ext cx="1082024" cy="993495"/>
          </a:xfrm>
          <a:custGeom>
            <a:avLst/>
            <a:gdLst/>
            <a:ahLst/>
            <a:cxnLst/>
            <a:rect l="l" t="t" r="r" b="b"/>
            <a:pathLst>
              <a:path w="1082024" h="993495">
                <a:moveTo>
                  <a:pt x="0" y="0"/>
                </a:moveTo>
                <a:lnTo>
                  <a:pt x="1082024" y="0"/>
                </a:lnTo>
                <a:lnTo>
                  <a:pt x="1082024" y="993495"/>
                </a:lnTo>
                <a:lnTo>
                  <a:pt x="0" y="993495"/>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N"/>
          </a:p>
        </p:txBody>
      </p:sp>
      <p:sp>
        <p:nvSpPr>
          <p:cNvPr id="11" name="Freeform 11"/>
          <p:cNvSpPr/>
          <p:nvPr/>
        </p:nvSpPr>
        <p:spPr>
          <a:xfrm>
            <a:off x="1115013" y="8927134"/>
            <a:ext cx="721352" cy="662333"/>
          </a:xfrm>
          <a:custGeom>
            <a:avLst/>
            <a:gdLst/>
            <a:ahLst/>
            <a:cxnLst/>
            <a:rect l="l" t="t" r="r" b="b"/>
            <a:pathLst>
              <a:path w="721352" h="662333">
                <a:moveTo>
                  <a:pt x="0" y="0"/>
                </a:moveTo>
                <a:lnTo>
                  <a:pt x="721353" y="0"/>
                </a:lnTo>
                <a:lnTo>
                  <a:pt x="721353" y="662332"/>
                </a:lnTo>
                <a:lnTo>
                  <a:pt x="0" y="662332"/>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N"/>
          </a:p>
        </p:txBody>
      </p:sp>
      <p:sp>
        <p:nvSpPr>
          <p:cNvPr id="12" name="Freeform 12"/>
          <p:cNvSpPr/>
          <p:nvPr/>
        </p:nvSpPr>
        <p:spPr>
          <a:xfrm>
            <a:off x="455018" y="9681004"/>
            <a:ext cx="659996" cy="605996"/>
          </a:xfrm>
          <a:custGeom>
            <a:avLst/>
            <a:gdLst/>
            <a:ahLst/>
            <a:cxnLst/>
            <a:rect l="l" t="t" r="r" b="b"/>
            <a:pathLst>
              <a:path w="659996" h="605996">
                <a:moveTo>
                  <a:pt x="0" y="0"/>
                </a:moveTo>
                <a:lnTo>
                  <a:pt x="659995" y="0"/>
                </a:lnTo>
                <a:lnTo>
                  <a:pt x="659995" y="605996"/>
                </a:lnTo>
                <a:lnTo>
                  <a:pt x="0" y="60599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N"/>
          </a:p>
        </p:txBody>
      </p:sp>
      <p:sp>
        <p:nvSpPr>
          <p:cNvPr id="13" name="TextBox 13"/>
          <p:cNvSpPr txBox="1"/>
          <p:nvPr/>
        </p:nvSpPr>
        <p:spPr>
          <a:xfrm>
            <a:off x="6282175" y="4716050"/>
            <a:ext cx="8655866" cy="2579617"/>
          </a:xfrm>
          <a:prstGeom prst="rect">
            <a:avLst/>
          </a:prstGeom>
        </p:spPr>
        <p:txBody>
          <a:bodyPr lIns="0" tIns="0" rIns="0" bIns="0" rtlCol="0" anchor="t">
            <a:spAutoFit/>
          </a:bodyPr>
          <a:lstStyle/>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Rare diseases often have very few diagnosed cases</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Lack of labeled data makes it hard to train AI models</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Traditional models cannot recognize diseases they haven’t seen before</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Patients face delayed or incorrect diagnoses</a:t>
            </a:r>
          </a:p>
          <a:p>
            <a:pPr marL="410209" lvl="1" indent="-205105" algn="just">
              <a:lnSpc>
                <a:spcPts val="3362"/>
              </a:lnSpc>
              <a:buFont typeface="Arial"/>
              <a:buChar char="•"/>
            </a:pPr>
            <a:r>
              <a:rPr lang="en-US" sz="1899" spc="205" dirty="0">
                <a:solidFill>
                  <a:srgbClr val="FFFFFF"/>
                </a:solidFill>
                <a:latin typeface="Magnolia Script"/>
                <a:ea typeface="Magnolia Script"/>
                <a:cs typeface="Magnolia Script"/>
                <a:sym typeface="Magnolia Script"/>
              </a:rPr>
              <a:t>Need a method that works without relying on large datasets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10205" y="-968729"/>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p:cNvSpPr/>
          <p:nvPr/>
        </p:nvSpPr>
        <p:spPr>
          <a:xfrm flipH="1">
            <a:off x="14448835" y="-968729"/>
            <a:ext cx="5620930" cy="5509404"/>
          </a:xfrm>
          <a:custGeom>
            <a:avLst/>
            <a:gdLst/>
            <a:ahLst/>
            <a:cxnLst/>
            <a:rect l="l" t="t" r="r" b="b"/>
            <a:pathLst>
              <a:path w="5620930" h="5509404">
                <a:moveTo>
                  <a:pt x="5620930" y="0"/>
                </a:moveTo>
                <a:lnTo>
                  <a:pt x="0" y="0"/>
                </a:lnTo>
                <a:lnTo>
                  <a:pt x="0" y="5509404"/>
                </a:lnTo>
                <a:lnTo>
                  <a:pt x="5620930" y="5509404"/>
                </a:lnTo>
                <a:lnTo>
                  <a:pt x="562093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4" name="Freeform 4"/>
          <p:cNvSpPr/>
          <p:nvPr/>
        </p:nvSpPr>
        <p:spPr>
          <a:xfrm flipV="1">
            <a:off x="-258539" y="7488743"/>
            <a:ext cx="5247619" cy="5143500"/>
          </a:xfrm>
          <a:custGeom>
            <a:avLst/>
            <a:gdLst/>
            <a:ahLst/>
            <a:cxnLst/>
            <a:rect l="l" t="t" r="r" b="b"/>
            <a:pathLst>
              <a:path w="5247619" h="5143500">
                <a:moveTo>
                  <a:pt x="0" y="5143500"/>
                </a:moveTo>
                <a:lnTo>
                  <a:pt x="5247619" y="5143500"/>
                </a:lnTo>
                <a:lnTo>
                  <a:pt x="5247619" y="0"/>
                </a:lnTo>
                <a:lnTo>
                  <a:pt x="0" y="0"/>
                </a:lnTo>
                <a:lnTo>
                  <a:pt x="0"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5" name="Group 5"/>
          <p:cNvGrpSpPr/>
          <p:nvPr/>
        </p:nvGrpSpPr>
        <p:grpSpPr>
          <a:xfrm>
            <a:off x="2365271" y="4016763"/>
            <a:ext cx="9437873" cy="4255259"/>
            <a:chOff x="0" y="0"/>
            <a:chExt cx="2837645" cy="1279410"/>
          </a:xfrm>
        </p:grpSpPr>
        <p:sp>
          <p:nvSpPr>
            <p:cNvPr id="6" name="Freeform 6"/>
            <p:cNvSpPr/>
            <p:nvPr/>
          </p:nvSpPr>
          <p:spPr>
            <a:xfrm>
              <a:off x="0" y="0"/>
              <a:ext cx="2837645" cy="1279410"/>
            </a:xfrm>
            <a:custGeom>
              <a:avLst/>
              <a:gdLst/>
              <a:ahLst/>
              <a:cxnLst/>
              <a:rect l="l" t="t" r="r" b="b"/>
              <a:pathLst>
                <a:path w="2837645" h="1279410">
                  <a:moveTo>
                    <a:pt x="41835" y="0"/>
                  </a:moveTo>
                  <a:lnTo>
                    <a:pt x="2795809" y="0"/>
                  </a:lnTo>
                  <a:cubicBezTo>
                    <a:pt x="2818914" y="0"/>
                    <a:pt x="2837645" y="18730"/>
                    <a:pt x="2837645" y="41835"/>
                  </a:cubicBezTo>
                  <a:lnTo>
                    <a:pt x="2837645" y="1237575"/>
                  </a:lnTo>
                  <a:cubicBezTo>
                    <a:pt x="2837645" y="1248670"/>
                    <a:pt x="2833237" y="1259312"/>
                    <a:pt x="2825391" y="1267157"/>
                  </a:cubicBezTo>
                  <a:cubicBezTo>
                    <a:pt x="2817546" y="1275003"/>
                    <a:pt x="2806905" y="1279410"/>
                    <a:pt x="2795809" y="1279410"/>
                  </a:cubicBezTo>
                  <a:lnTo>
                    <a:pt x="41835" y="1279410"/>
                  </a:lnTo>
                  <a:cubicBezTo>
                    <a:pt x="18730" y="1279410"/>
                    <a:pt x="0" y="1260680"/>
                    <a:pt x="0" y="1237575"/>
                  </a:cubicBezTo>
                  <a:lnTo>
                    <a:pt x="0" y="41835"/>
                  </a:lnTo>
                  <a:cubicBezTo>
                    <a:pt x="0" y="18730"/>
                    <a:pt x="18730" y="0"/>
                    <a:pt x="41835" y="0"/>
                  </a:cubicBezTo>
                  <a:close/>
                </a:path>
              </a:pathLst>
            </a:custGeom>
            <a:solidFill>
              <a:srgbClr val="5EB2BA"/>
            </a:solidFill>
          </p:spPr>
          <p:txBody>
            <a:bodyPr/>
            <a:lstStyle/>
            <a:p>
              <a:endParaRPr lang="en-IN"/>
            </a:p>
          </p:txBody>
        </p:sp>
        <p:sp>
          <p:nvSpPr>
            <p:cNvPr id="7" name="TextBox 7"/>
            <p:cNvSpPr txBox="1"/>
            <p:nvPr/>
          </p:nvSpPr>
          <p:spPr>
            <a:xfrm>
              <a:off x="0" y="-28575"/>
              <a:ext cx="2837645" cy="130798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2169420" y="5265645"/>
            <a:ext cx="6655183" cy="5368514"/>
          </a:xfrm>
          <a:custGeom>
            <a:avLst/>
            <a:gdLst/>
            <a:ahLst/>
            <a:cxnLst/>
            <a:rect l="l" t="t" r="r" b="b"/>
            <a:pathLst>
              <a:path w="6655183" h="5368514">
                <a:moveTo>
                  <a:pt x="0" y="0"/>
                </a:moveTo>
                <a:lnTo>
                  <a:pt x="6655183" y="0"/>
                </a:lnTo>
                <a:lnTo>
                  <a:pt x="6655183" y="5368514"/>
                </a:lnTo>
                <a:lnTo>
                  <a:pt x="0" y="53685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TextBox 9"/>
          <p:cNvSpPr txBox="1"/>
          <p:nvPr/>
        </p:nvSpPr>
        <p:spPr>
          <a:xfrm>
            <a:off x="2496356" y="2256209"/>
            <a:ext cx="9673064" cy="869112"/>
          </a:xfrm>
          <a:prstGeom prst="rect">
            <a:avLst/>
          </a:prstGeom>
        </p:spPr>
        <p:txBody>
          <a:bodyPr lIns="0" tIns="0" rIns="0" bIns="0" rtlCol="0" anchor="t">
            <a:spAutoFit/>
          </a:bodyPr>
          <a:lstStyle/>
          <a:p>
            <a:pPr algn="l">
              <a:lnSpc>
                <a:spcPts val="6871"/>
              </a:lnSpc>
            </a:pPr>
            <a:r>
              <a:rPr lang="en-US" sz="5679">
                <a:solidFill>
                  <a:srgbClr val="0A8271"/>
                </a:solidFill>
                <a:latin typeface="Bernoru"/>
                <a:ea typeface="Bernoru"/>
                <a:cs typeface="Bernoru"/>
                <a:sym typeface="Bernoru"/>
              </a:rPr>
              <a:t>OBJECTIVE</a:t>
            </a:r>
          </a:p>
        </p:txBody>
      </p:sp>
      <p:sp>
        <p:nvSpPr>
          <p:cNvPr id="10" name="Freeform 10"/>
          <p:cNvSpPr/>
          <p:nvPr/>
        </p:nvSpPr>
        <p:spPr>
          <a:xfrm>
            <a:off x="13333685" y="535683"/>
            <a:ext cx="975508" cy="895694"/>
          </a:xfrm>
          <a:custGeom>
            <a:avLst/>
            <a:gdLst/>
            <a:ahLst/>
            <a:cxnLst/>
            <a:rect l="l" t="t" r="r" b="b"/>
            <a:pathLst>
              <a:path w="975508" h="895694">
                <a:moveTo>
                  <a:pt x="0" y="0"/>
                </a:moveTo>
                <a:lnTo>
                  <a:pt x="975508" y="0"/>
                </a:lnTo>
                <a:lnTo>
                  <a:pt x="975508" y="895694"/>
                </a:lnTo>
                <a:lnTo>
                  <a:pt x="0" y="895694"/>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1" name="Freeform 11"/>
          <p:cNvSpPr/>
          <p:nvPr/>
        </p:nvSpPr>
        <p:spPr>
          <a:xfrm>
            <a:off x="14143689" y="1707053"/>
            <a:ext cx="650342" cy="597132"/>
          </a:xfrm>
          <a:custGeom>
            <a:avLst/>
            <a:gdLst/>
            <a:ahLst/>
            <a:cxnLst/>
            <a:rect l="l" t="t" r="r" b="b"/>
            <a:pathLst>
              <a:path w="650342" h="597132">
                <a:moveTo>
                  <a:pt x="0" y="0"/>
                </a:moveTo>
                <a:lnTo>
                  <a:pt x="650342" y="0"/>
                </a:lnTo>
                <a:lnTo>
                  <a:pt x="650342" y="597132"/>
                </a:lnTo>
                <a:lnTo>
                  <a:pt x="0" y="59713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2" name="Freeform 12"/>
          <p:cNvSpPr/>
          <p:nvPr/>
        </p:nvSpPr>
        <p:spPr>
          <a:xfrm>
            <a:off x="13523927" y="2578980"/>
            <a:ext cx="595025" cy="546341"/>
          </a:xfrm>
          <a:custGeom>
            <a:avLst/>
            <a:gdLst/>
            <a:ahLst/>
            <a:cxnLst/>
            <a:rect l="l" t="t" r="r" b="b"/>
            <a:pathLst>
              <a:path w="595025" h="546341">
                <a:moveTo>
                  <a:pt x="0" y="0"/>
                </a:moveTo>
                <a:lnTo>
                  <a:pt x="595025" y="0"/>
                </a:lnTo>
                <a:lnTo>
                  <a:pt x="595025" y="546341"/>
                </a:lnTo>
                <a:lnTo>
                  <a:pt x="0" y="546341"/>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3" name="Freeform 13"/>
          <p:cNvSpPr/>
          <p:nvPr/>
        </p:nvSpPr>
        <p:spPr>
          <a:xfrm>
            <a:off x="2930124" y="8844614"/>
            <a:ext cx="2298255" cy="827372"/>
          </a:xfrm>
          <a:custGeom>
            <a:avLst/>
            <a:gdLst/>
            <a:ahLst/>
            <a:cxnLst/>
            <a:rect l="l" t="t" r="r" b="b"/>
            <a:pathLst>
              <a:path w="2298255" h="827372">
                <a:moveTo>
                  <a:pt x="0" y="0"/>
                </a:moveTo>
                <a:lnTo>
                  <a:pt x="2298256" y="0"/>
                </a:lnTo>
                <a:lnTo>
                  <a:pt x="2298256" y="827372"/>
                </a:lnTo>
                <a:lnTo>
                  <a:pt x="0" y="827372"/>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N"/>
          </a:p>
        </p:txBody>
      </p:sp>
      <p:sp>
        <p:nvSpPr>
          <p:cNvPr id="14" name="TextBox 14"/>
          <p:cNvSpPr txBox="1"/>
          <p:nvPr/>
        </p:nvSpPr>
        <p:spPr>
          <a:xfrm>
            <a:off x="2496356" y="4360080"/>
            <a:ext cx="9027869" cy="4061368"/>
          </a:xfrm>
          <a:prstGeom prst="rect">
            <a:avLst/>
          </a:prstGeom>
        </p:spPr>
        <p:txBody>
          <a:bodyPr wrap="square" lIns="0" tIns="0" rIns="0" bIns="0" rtlCol="0" anchor="t">
            <a:spAutoFit/>
          </a:bodyPr>
          <a:lstStyle/>
          <a:p>
            <a:pPr marL="485927" lvl="1" indent="-242964" algn="just">
              <a:lnSpc>
                <a:spcPts val="3983"/>
              </a:lnSpc>
              <a:buFont typeface="Arial"/>
              <a:buChar char="•"/>
            </a:pPr>
            <a:r>
              <a:rPr lang="en-US" sz="2250" spc="243" dirty="0">
                <a:solidFill>
                  <a:srgbClr val="FFFFFF"/>
                </a:solidFill>
                <a:latin typeface="Magnolia Script"/>
                <a:ea typeface="Magnolia Script"/>
                <a:cs typeface="Magnolia Script"/>
                <a:sym typeface="Magnolia Script"/>
              </a:rPr>
              <a:t>To Use Zero-Shot Learning for rare disease diagnosis</a:t>
            </a:r>
          </a:p>
          <a:p>
            <a:pPr marL="485927" lvl="1" indent="-242964" algn="just">
              <a:lnSpc>
                <a:spcPts val="3983"/>
              </a:lnSpc>
              <a:buFont typeface="Arial"/>
              <a:buChar char="•"/>
            </a:pPr>
            <a:r>
              <a:rPr lang="en-US" sz="2250" spc="243" dirty="0">
                <a:solidFill>
                  <a:srgbClr val="FFFFFF"/>
                </a:solidFill>
                <a:latin typeface="Magnolia Script"/>
                <a:ea typeface="Magnolia Script"/>
                <a:cs typeface="Magnolia Script"/>
                <a:sym typeface="Magnolia Script"/>
              </a:rPr>
              <a:t>To match patient symptoms to disease descriptions</a:t>
            </a:r>
          </a:p>
          <a:p>
            <a:pPr marL="485927" lvl="1" indent="-242964" algn="just">
              <a:lnSpc>
                <a:spcPts val="3983"/>
              </a:lnSpc>
              <a:buFont typeface="Arial"/>
              <a:buChar char="•"/>
            </a:pPr>
            <a:r>
              <a:rPr lang="en-US" sz="2250" spc="243" dirty="0">
                <a:solidFill>
                  <a:srgbClr val="FFFFFF"/>
                </a:solidFill>
                <a:latin typeface="Magnolia Script"/>
                <a:ea typeface="Magnolia Script"/>
                <a:cs typeface="Magnolia Script"/>
                <a:sym typeface="Magnolia Script"/>
              </a:rPr>
              <a:t>To reduce dependency on large labeled datasets</a:t>
            </a:r>
          </a:p>
          <a:p>
            <a:pPr marL="485927" lvl="1" indent="-242964" algn="just">
              <a:lnSpc>
                <a:spcPts val="3983"/>
              </a:lnSpc>
              <a:buFont typeface="Arial"/>
              <a:buChar char="•"/>
            </a:pPr>
            <a:r>
              <a:rPr lang="en-US" sz="2250" spc="243" dirty="0">
                <a:solidFill>
                  <a:srgbClr val="FFFFFF"/>
                </a:solidFill>
                <a:latin typeface="Magnolia Script"/>
                <a:ea typeface="Magnolia Script"/>
                <a:cs typeface="Magnolia Script"/>
                <a:sym typeface="Magnolia Script"/>
              </a:rPr>
              <a:t>To support faster and smarter diagnosis</a:t>
            </a:r>
          </a:p>
          <a:p>
            <a:pPr marL="485927" lvl="1" indent="-242964" algn="just">
              <a:lnSpc>
                <a:spcPts val="3983"/>
              </a:lnSpc>
              <a:buFont typeface="Arial"/>
              <a:buChar char="•"/>
            </a:pPr>
            <a:r>
              <a:rPr lang="en-US" sz="2250" spc="243" dirty="0">
                <a:solidFill>
                  <a:srgbClr val="FFFFFF"/>
                </a:solidFill>
                <a:latin typeface="Magnolia Script"/>
                <a:ea typeface="Magnolia Script"/>
                <a:cs typeface="Magnolia Script"/>
                <a:sym typeface="Magnolia Script"/>
              </a:rPr>
              <a:t>To improve AI accessibility in rare conditions</a:t>
            </a:r>
          </a:p>
          <a:p>
            <a:pPr marL="485927" lvl="1" indent="-242964" algn="just">
              <a:lnSpc>
                <a:spcPts val="3983"/>
              </a:lnSpc>
              <a:buFont typeface="Arial"/>
              <a:buChar char="•"/>
            </a:pPr>
            <a:r>
              <a:rPr lang="en-US" sz="2400" spc="205" dirty="0">
                <a:solidFill>
                  <a:srgbClr val="FFFFFF"/>
                </a:solidFill>
                <a:latin typeface="Magnolia Script"/>
                <a:ea typeface="Magnolia Script"/>
                <a:cs typeface="Magnolia Script"/>
                <a:sym typeface="Magnolia Script"/>
              </a:rPr>
              <a:t>To improve diagnosis using existing symptom descriptions instead of case data</a:t>
            </a:r>
          </a:p>
          <a:p>
            <a:pPr marL="485927" lvl="1" indent="-242964" algn="just">
              <a:lnSpc>
                <a:spcPts val="3983"/>
              </a:lnSpc>
              <a:buFont typeface="Arial"/>
              <a:buChar char="•"/>
            </a:pPr>
            <a:endParaRPr lang="en-US" sz="2250" spc="243" dirty="0">
              <a:solidFill>
                <a:srgbClr val="FFFFFF"/>
              </a:solidFill>
              <a:latin typeface="Magnolia Script"/>
              <a:ea typeface="Magnolia Script"/>
              <a:cs typeface="Magnolia Script"/>
              <a:sym typeface="Magnolia Scrip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596F-E976-B327-F893-A440737C80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AD6F05-D6D4-D293-019A-0DFD41360977}"/>
              </a:ext>
            </a:extLst>
          </p:cNvPr>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a:extLst>
              <a:ext uri="{FF2B5EF4-FFF2-40B4-BE49-F238E27FC236}">
                <a16:creationId xmlns:a16="http://schemas.microsoft.com/office/drawing/2014/main" id="{045EED90-9646-96C7-F8B5-189535222C1A}"/>
              </a:ext>
            </a:extLst>
          </p:cNvPr>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7" name="Freeform 7">
            <a:extLst>
              <a:ext uri="{FF2B5EF4-FFF2-40B4-BE49-F238E27FC236}">
                <a16:creationId xmlns:a16="http://schemas.microsoft.com/office/drawing/2014/main" id="{554ABF43-2993-9CC7-FDC9-9C62B713A993}"/>
              </a:ext>
            </a:extLst>
          </p:cNvPr>
          <p:cNvSpPr/>
          <p:nvPr/>
        </p:nvSpPr>
        <p:spPr>
          <a:xfrm>
            <a:off x="681372" y="7639690"/>
            <a:ext cx="1082024" cy="993495"/>
          </a:xfrm>
          <a:custGeom>
            <a:avLst/>
            <a:gdLst/>
            <a:ahLst/>
            <a:cxnLst/>
            <a:rect l="l" t="t" r="r" b="b"/>
            <a:pathLst>
              <a:path w="1082024" h="993495">
                <a:moveTo>
                  <a:pt x="0" y="0"/>
                </a:moveTo>
                <a:lnTo>
                  <a:pt x="1082024" y="0"/>
                </a:lnTo>
                <a:lnTo>
                  <a:pt x="1082024" y="993494"/>
                </a:lnTo>
                <a:lnTo>
                  <a:pt x="0" y="99349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8" name="Freeform 8">
            <a:extLst>
              <a:ext uri="{FF2B5EF4-FFF2-40B4-BE49-F238E27FC236}">
                <a16:creationId xmlns:a16="http://schemas.microsoft.com/office/drawing/2014/main" id="{3743DCD8-5773-3037-8499-F2CA95BAEFA8}"/>
              </a:ext>
            </a:extLst>
          </p:cNvPr>
          <p:cNvSpPr/>
          <p:nvPr/>
        </p:nvSpPr>
        <p:spPr>
          <a:xfrm>
            <a:off x="1763396" y="8380061"/>
            <a:ext cx="721352" cy="662333"/>
          </a:xfrm>
          <a:custGeom>
            <a:avLst/>
            <a:gdLst/>
            <a:ahLst/>
            <a:cxnLst/>
            <a:rect l="l" t="t" r="r" b="b"/>
            <a:pathLst>
              <a:path w="721352" h="662333">
                <a:moveTo>
                  <a:pt x="0" y="0"/>
                </a:moveTo>
                <a:lnTo>
                  <a:pt x="721352" y="0"/>
                </a:lnTo>
                <a:lnTo>
                  <a:pt x="721352" y="662332"/>
                </a:lnTo>
                <a:lnTo>
                  <a:pt x="0" y="66233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9" name="Freeform 9">
            <a:extLst>
              <a:ext uri="{FF2B5EF4-FFF2-40B4-BE49-F238E27FC236}">
                <a16:creationId xmlns:a16="http://schemas.microsoft.com/office/drawing/2014/main" id="{0B4DC225-6E04-BF15-9A18-EA04F4818C77}"/>
              </a:ext>
            </a:extLst>
          </p:cNvPr>
          <p:cNvSpPr/>
          <p:nvPr/>
        </p:nvSpPr>
        <p:spPr>
          <a:xfrm>
            <a:off x="1103400" y="9133931"/>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10" name="Freeform 10">
            <a:extLst>
              <a:ext uri="{FF2B5EF4-FFF2-40B4-BE49-F238E27FC236}">
                <a16:creationId xmlns:a16="http://schemas.microsoft.com/office/drawing/2014/main" id="{4DA38512-467A-ECD7-60C2-323EECA51853}"/>
              </a:ext>
            </a:extLst>
          </p:cNvPr>
          <p:cNvSpPr/>
          <p:nvPr/>
        </p:nvSpPr>
        <p:spPr>
          <a:xfrm flipH="1">
            <a:off x="14961045" y="615014"/>
            <a:ext cx="2298255" cy="827372"/>
          </a:xfrm>
          <a:custGeom>
            <a:avLst/>
            <a:gdLst/>
            <a:ahLst/>
            <a:cxnLst/>
            <a:rect l="l" t="t" r="r" b="b"/>
            <a:pathLst>
              <a:path w="2298255" h="827372">
                <a:moveTo>
                  <a:pt x="2298255" y="0"/>
                </a:moveTo>
                <a:lnTo>
                  <a:pt x="0" y="0"/>
                </a:lnTo>
                <a:lnTo>
                  <a:pt x="0" y="827372"/>
                </a:lnTo>
                <a:lnTo>
                  <a:pt x="2298255" y="827372"/>
                </a:lnTo>
                <a:lnTo>
                  <a:pt x="2298255"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3" name="TextBox 13">
            <a:extLst>
              <a:ext uri="{FF2B5EF4-FFF2-40B4-BE49-F238E27FC236}">
                <a16:creationId xmlns:a16="http://schemas.microsoft.com/office/drawing/2014/main" id="{FC856FED-37FE-2CF9-5C79-CD52C2F7ACBB}"/>
              </a:ext>
            </a:extLst>
          </p:cNvPr>
          <p:cNvSpPr txBox="1"/>
          <p:nvPr/>
        </p:nvSpPr>
        <p:spPr>
          <a:xfrm>
            <a:off x="3527662" y="1207231"/>
            <a:ext cx="11232676" cy="724301"/>
          </a:xfrm>
          <a:prstGeom prst="rect">
            <a:avLst/>
          </a:prstGeom>
        </p:spPr>
        <p:txBody>
          <a:bodyPr lIns="0" tIns="0" rIns="0" bIns="0" rtlCol="0" anchor="t">
            <a:spAutoFit/>
          </a:bodyPr>
          <a:lstStyle/>
          <a:p>
            <a:pPr algn="ctr">
              <a:lnSpc>
                <a:spcPts val="6413"/>
              </a:lnSpc>
            </a:pPr>
            <a:r>
              <a:rPr lang="en-US" sz="5300" dirty="0">
                <a:solidFill>
                  <a:srgbClr val="0A8271"/>
                </a:solidFill>
                <a:latin typeface="Bernoru"/>
                <a:ea typeface="Bernoru"/>
                <a:cs typeface="Bernoru"/>
                <a:sym typeface="Bernoru"/>
              </a:rPr>
              <a:t>LITERATURE SURVEY</a:t>
            </a:r>
          </a:p>
        </p:txBody>
      </p:sp>
      <p:graphicFrame>
        <p:nvGraphicFramePr>
          <p:cNvPr id="15" name="Table 14">
            <a:extLst>
              <a:ext uri="{FF2B5EF4-FFF2-40B4-BE49-F238E27FC236}">
                <a16:creationId xmlns:a16="http://schemas.microsoft.com/office/drawing/2014/main" id="{BEDBAB37-A969-215C-E252-A42840C24763}"/>
              </a:ext>
            </a:extLst>
          </p:cNvPr>
          <p:cNvGraphicFramePr>
            <a:graphicFrameLocks noGrp="1"/>
          </p:cNvGraphicFramePr>
          <p:nvPr>
            <p:extLst>
              <p:ext uri="{D42A27DB-BD31-4B8C-83A1-F6EECF244321}">
                <p14:modId xmlns:p14="http://schemas.microsoft.com/office/powerpoint/2010/main" val="4270331070"/>
              </p:ext>
            </p:extLst>
          </p:nvPr>
        </p:nvGraphicFramePr>
        <p:xfrm>
          <a:off x="2219811" y="2781300"/>
          <a:ext cx="14156790" cy="6513848"/>
        </p:xfrm>
        <a:graphic>
          <a:graphicData uri="http://schemas.openxmlformats.org/drawingml/2006/table">
            <a:tbl>
              <a:tblPr firstRow="1" bandRow="1">
                <a:tableStyleId>{BDBED569-4797-4DF1-A0F4-6AAB3CD982D8}</a:tableStyleId>
              </a:tblPr>
              <a:tblGrid>
                <a:gridCol w="2595142">
                  <a:extLst>
                    <a:ext uri="{9D8B030D-6E8A-4147-A177-3AD203B41FA5}">
                      <a16:colId xmlns:a16="http://schemas.microsoft.com/office/drawing/2014/main" val="1114153299"/>
                    </a:ext>
                  </a:extLst>
                </a:gridCol>
                <a:gridCol w="2247373">
                  <a:extLst>
                    <a:ext uri="{9D8B030D-6E8A-4147-A177-3AD203B41FA5}">
                      <a16:colId xmlns:a16="http://schemas.microsoft.com/office/drawing/2014/main" val="3463030923"/>
                    </a:ext>
                  </a:extLst>
                </a:gridCol>
                <a:gridCol w="2427163">
                  <a:extLst>
                    <a:ext uri="{9D8B030D-6E8A-4147-A177-3AD203B41FA5}">
                      <a16:colId xmlns:a16="http://schemas.microsoft.com/office/drawing/2014/main" val="3402333370"/>
                    </a:ext>
                  </a:extLst>
                </a:gridCol>
                <a:gridCol w="2337268">
                  <a:extLst>
                    <a:ext uri="{9D8B030D-6E8A-4147-A177-3AD203B41FA5}">
                      <a16:colId xmlns:a16="http://schemas.microsoft.com/office/drawing/2014/main" val="2440352369"/>
                    </a:ext>
                  </a:extLst>
                </a:gridCol>
                <a:gridCol w="2067583">
                  <a:extLst>
                    <a:ext uri="{9D8B030D-6E8A-4147-A177-3AD203B41FA5}">
                      <a16:colId xmlns:a16="http://schemas.microsoft.com/office/drawing/2014/main" val="4161939234"/>
                    </a:ext>
                  </a:extLst>
                </a:gridCol>
                <a:gridCol w="2482261">
                  <a:extLst>
                    <a:ext uri="{9D8B030D-6E8A-4147-A177-3AD203B41FA5}">
                      <a16:colId xmlns:a16="http://schemas.microsoft.com/office/drawing/2014/main" val="712059927"/>
                    </a:ext>
                  </a:extLst>
                </a:gridCol>
              </a:tblGrid>
              <a:tr h="1012926">
                <a:tc>
                  <a:txBody>
                    <a:bodyPr/>
                    <a:lstStyle/>
                    <a:p>
                      <a:pPr algn="ctr"/>
                      <a:r>
                        <a:rPr lang="en-IN" sz="2400" dirty="0">
                          <a:solidFill>
                            <a:schemeClr val="tx1"/>
                          </a:solidFill>
                          <a:latin typeface="Magnolia Script" panose="020B0604020202020204" charset="0"/>
                        </a:rPr>
                        <a:t>Title</a:t>
                      </a:r>
                    </a:p>
                  </a:txBody>
                  <a:tcPr/>
                </a:tc>
                <a:tc>
                  <a:txBody>
                    <a:bodyPr/>
                    <a:lstStyle/>
                    <a:p>
                      <a:pPr algn="ctr"/>
                      <a:r>
                        <a:rPr lang="en-IN" sz="2400" dirty="0">
                          <a:solidFill>
                            <a:schemeClr val="tx1"/>
                          </a:solidFill>
                          <a:latin typeface="Magnolia Script" panose="020B0604020202020204" charset="0"/>
                        </a:rPr>
                        <a:t>Author name</a:t>
                      </a:r>
                    </a:p>
                  </a:txBody>
                  <a:tcPr/>
                </a:tc>
                <a:tc>
                  <a:txBody>
                    <a:bodyPr/>
                    <a:lstStyle/>
                    <a:p>
                      <a:pPr algn="ctr"/>
                      <a:r>
                        <a:rPr lang="en-IN" sz="2400" dirty="0">
                          <a:solidFill>
                            <a:schemeClr val="tx1"/>
                          </a:solidFill>
                          <a:latin typeface="Magnolia Script" panose="020B0604020202020204" charset="0"/>
                        </a:rPr>
                        <a:t>Dataset Used</a:t>
                      </a:r>
                    </a:p>
                  </a:txBody>
                  <a:tcPr/>
                </a:tc>
                <a:tc>
                  <a:txBody>
                    <a:bodyPr/>
                    <a:lstStyle/>
                    <a:p>
                      <a:pPr algn="ctr"/>
                      <a:r>
                        <a:rPr lang="en-IN" sz="2400" dirty="0">
                          <a:solidFill>
                            <a:schemeClr val="tx1"/>
                          </a:solidFill>
                          <a:latin typeface="Magnolia Script" panose="020B0604020202020204" charset="0"/>
                        </a:rPr>
                        <a:t>Model used</a:t>
                      </a:r>
                    </a:p>
                  </a:txBody>
                  <a:tcPr/>
                </a:tc>
                <a:tc>
                  <a:txBody>
                    <a:bodyPr/>
                    <a:lstStyle/>
                    <a:p>
                      <a:pPr algn="ctr"/>
                      <a:r>
                        <a:rPr lang="en-IN" sz="2400" dirty="0">
                          <a:solidFill>
                            <a:schemeClr val="tx1"/>
                          </a:solidFill>
                          <a:latin typeface="Magnolia Script" panose="020B0604020202020204" charset="0"/>
                        </a:rPr>
                        <a:t>Metrics</a:t>
                      </a:r>
                    </a:p>
                  </a:txBody>
                  <a:tcPr/>
                </a:tc>
                <a:tc>
                  <a:txBody>
                    <a:bodyPr/>
                    <a:lstStyle/>
                    <a:p>
                      <a:pPr algn="ctr"/>
                      <a:r>
                        <a:rPr lang="en-IN" sz="2400" dirty="0">
                          <a:solidFill>
                            <a:schemeClr val="tx1"/>
                          </a:solidFill>
                          <a:latin typeface="Magnolia Script" panose="020B0604020202020204" charset="0"/>
                        </a:rPr>
                        <a:t>Limitations</a:t>
                      </a:r>
                    </a:p>
                  </a:txBody>
                  <a:tcPr/>
                </a:tc>
                <a:extLst>
                  <a:ext uri="{0D108BD9-81ED-4DB2-BD59-A6C34878D82A}">
                    <a16:rowId xmlns:a16="http://schemas.microsoft.com/office/drawing/2014/main" val="3483796142"/>
                  </a:ext>
                </a:extLst>
              </a:tr>
              <a:tr h="1034347">
                <a:tc>
                  <a:txBody>
                    <a:bodyPr/>
                    <a:lstStyle/>
                    <a:p>
                      <a:r>
                        <a:rPr lang="en-US" sz="1800" b="0" i="0" kern="1200" dirty="0">
                          <a:solidFill>
                            <a:schemeClr val="tx1"/>
                          </a:solidFill>
                          <a:effectLst/>
                          <a:latin typeface="Californian FB" panose="0207040306080B030204" pitchFamily="18" charset="0"/>
                          <a:ea typeface="+mn-ea"/>
                          <a:cs typeface="+mn-cs"/>
                        </a:rPr>
                        <a:t>Zero-Shot Learning Algorithms for Object Recognition in Medical and Navigation Applications</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Sangeeta Nair and Arvind Kumar</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Improved Zero-Shot Learning (I-ZSL) Framework, </a:t>
                      </a:r>
                      <a:r>
                        <a:rPr lang="en-IN" sz="1800" b="0" i="0" kern="1200" dirty="0">
                          <a:solidFill>
                            <a:schemeClr val="tx1"/>
                          </a:solidFill>
                          <a:effectLst/>
                          <a:latin typeface="Californian FB" panose="0207040306080B030204" pitchFamily="18" charset="0"/>
                          <a:ea typeface="+mn-ea"/>
                          <a:cs typeface="+mn-cs"/>
                        </a:rPr>
                        <a:t>Variational Autoencoders (VAEs), Transformer-based Embeddings, Domain-Adaptive Classifier</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 The ChestX-ray14 dataset is utilized for medical diagnostics, The Google Landmarks Dataset (GLDv2) is used for navigation tasks.</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F1-score, Mean Average Precision (</a:t>
                      </a:r>
                      <a:r>
                        <a:rPr lang="en-IN" sz="1800" b="0" i="0" kern="1200" dirty="0" err="1">
                          <a:solidFill>
                            <a:schemeClr val="tx1"/>
                          </a:solidFill>
                          <a:effectLst/>
                          <a:latin typeface="Californian FB" panose="0207040306080B030204" pitchFamily="18" charset="0"/>
                          <a:ea typeface="+mn-ea"/>
                          <a:cs typeface="+mn-cs"/>
                        </a:rPr>
                        <a:t>mAP</a:t>
                      </a:r>
                      <a:r>
                        <a:rPr lang="en-IN" sz="1800" b="0" i="0" kern="1200" dirty="0">
                          <a:solidFill>
                            <a:schemeClr val="tx1"/>
                          </a:solidFill>
                          <a:effectLst/>
                          <a:latin typeface="Californian FB" panose="0207040306080B030204" pitchFamily="18" charset="0"/>
                          <a:ea typeface="+mn-ea"/>
                          <a:cs typeface="+mn-cs"/>
                        </a:rPr>
                        <a:t>), Classification Accuracy.</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Scalability Issues, Dynamic Environments, Semantic Alignment and Scalability, Dependence on </a:t>
                      </a:r>
                      <a:r>
                        <a:rPr lang="en-IN" sz="1800" b="0" i="0" kern="1200" dirty="0" err="1">
                          <a:solidFill>
                            <a:schemeClr val="tx1"/>
                          </a:solidFill>
                          <a:effectLst/>
                          <a:latin typeface="Californian FB" panose="0207040306080B030204" pitchFamily="18" charset="0"/>
                          <a:ea typeface="+mn-ea"/>
                          <a:cs typeface="+mn-cs"/>
                        </a:rPr>
                        <a:t>Labeled</a:t>
                      </a:r>
                      <a:r>
                        <a:rPr lang="en-IN" sz="1800" b="0" i="0" kern="1200" dirty="0">
                          <a:solidFill>
                            <a:schemeClr val="tx1"/>
                          </a:solidFill>
                          <a:effectLst/>
                          <a:latin typeface="Californian FB" panose="0207040306080B030204" pitchFamily="18" charset="0"/>
                          <a:ea typeface="+mn-ea"/>
                          <a:cs typeface="+mn-cs"/>
                        </a:rPr>
                        <a:t> Data</a:t>
                      </a:r>
                      <a:endParaRPr lang="en-IN" b="0" dirty="0">
                        <a:latin typeface="Californian FB" panose="0207040306080B030204" pitchFamily="18" charset="0"/>
                      </a:endParaRPr>
                    </a:p>
                  </a:txBody>
                  <a:tcPr/>
                </a:tc>
                <a:extLst>
                  <a:ext uri="{0D108BD9-81ED-4DB2-BD59-A6C34878D82A}">
                    <a16:rowId xmlns:a16="http://schemas.microsoft.com/office/drawing/2014/main" val="3320052280"/>
                  </a:ext>
                </a:extLst>
              </a:tr>
              <a:tr h="1203242">
                <a:tc>
                  <a:txBody>
                    <a:bodyPr/>
                    <a:lstStyle/>
                    <a:p>
                      <a:r>
                        <a:rPr lang="en-US" sz="1800" b="0" i="0" kern="1200" dirty="0">
                          <a:solidFill>
                            <a:schemeClr val="tx1"/>
                          </a:solidFill>
                          <a:effectLst/>
                          <a:latin typeface="+mn-lt"/>
                          <a:ea typeface="+mn-ea"/>
                          <a:cs typeface="+mn-cs"/>
                        </a:rPr>
                        <a:t>Zero-Shot Learning: Teaching AI to Understand the Unknown</a:t>
                      </a:r>
                      <a:endParaRPr lang="en-IN" dirty="0">
                        <a:latin typeface="Californian FB" panose="0207040306080B030204" pitchFamily="18" charset="0"/>
                      </a:endParaRPr>
                    </a:p>
                  </a:txBody>
                  <a:tcPr/>
                </a:tc>
                <a:tc>
                  <a:txBody>
                    <a:bodyPr/>
                    <a:lstStyle/>
                    <a:p>
                      <a:r>
                        <a:rPr lang="en-IN" sz="1800" b="0" i="0" kern="1200" dirty="0">
                          <a:solidFill>
                            <a:schemeClr val="tx1"/>
                          </a:solidFill>
                          <a:effectLst/>
                          <a:latin typeface="+mn-lt"/>
                          <a:ea typeface="+mn-ea"/>
                          <a:cs typeface="+mn-cs"/>
                        </a:rPr>
                        <a:t> Deekshitha Kosaraju </a:t>
                      </a:r>
                      <a:br>
                        <a:rPr lang="en-IN" sz="1800" b="1" i="0" kern="1200" dirty="0">
                          <a:solidFill>
                            <a:schemeClr val="tx1"/>
                          </a:solidFill>
                          <a:effectLst/>
                          <a:latin typeface="+mn-lt"/>
                          <a:ea typeface="+mn-ea"/>
                          <a:cs typeface="+mn-cs"/>
                        </a:rPr>
                      </a:br>
                      <a:endParaRPr lang="en-IN" dirty="0">
                        <a:latin typeface="Californian FB" panose="0207040306080B030204" pitchFamily="18" charset="0"/>
                      </a:endParaRPr>
                    </a:p>
                  </a:txBody>
                  <a:tcPr/>
                </a:tc>
                <a:tc>
                  <a:txBody>
                    <a:bodyPr/>
                    <a:lstStyle/>
                    <a:p>
                      <a:r>
                        <a:rPr lang="en-US" sz="1800" b="0" i="0" kern="1200" dirty="0">
                          <a:solidFill>
                            <a:schemeClr val="tx1"/>
                          </a:solidFill>
                          <a:effectLst/>
                          <a:latin typeface="+mn-lt"/>
                          <a:ea typeface="+mn-ea"/>
                          <a:cs typeface="+mn-cs"/>
                        </a:rPr>
                        <a:t>Discusses the challenge of gathering 'vast amounts of data sets'</a:t>
                      </a:r>
                      <a:endParaRPr lang="en-IN" dirty="0">
                        <a:latin typeface="Californian FB" panose="0207040306080B030204" pitchFamily="18" charset="0"/>
                      </a:endParaRPr>
                    </a:p>
                  </a:txBody>
                  <a:tcPr/>
                </a:tc>
                <a:tc>
                  <a:txBody>
                    <a:bodyPr/>
                    <a:lstStyle/>
                    <a:p>
                      <a:r>
                        <a:rPr lang="en-IN" sz="1800" b="0" i="0" kern="1200" dirty="0">
                          <a:solidFill>
                            <a:schemeClr val="tx1"/>
                          </a:solidFill>
                          <a:effectLst/>
                          <a:latin typeface="+mn-lt"/>
                          <a:ea typeface="+mn-ea"/>
                          <a:cs typeface="+mn-cs"/>
                        </a:rPr>
                        <a:t>Domain Stacked </a:t>
                      </a:r>
                      <a:r>
                        <a:rPr lang="en-IN" sz="1800" b="0" i="0" kern="1200" dirty="0" err="1">
                          <a:solidFill>
                            <a:schemeClr val="tx1"/>
                          </a:solidFill>
                          <a:effectLst/>
                          <a:latin typeface="+mn-lt"/>
                          <a:ea typeface="+mn-ea"/>
                          <a:cs typeface="+mn-cs"/>
                        </a:rPr>
                        <a:t>AutoEncoders</a:t>
                      </a:r>
                      <a:r>
                        <a:rPr lang="en-IN" sz="1800" b="0" i="0" kern="1200" dirty="0">
                          <a:solidFill>
                            <a:schemeClr val="tx1"/>
                          </a:solidFill>
                          <a:effectLst/>
                          <a:latin typeface="+mn-lt"/>
                          <a:ea typeface="+mn-ea"/>
                          <a:cs typeface="+mn-cs"/>
                        </a:rPr>
                        <a:t> (</a:t>
                      </a:r>
                      <a:r>
                        <a:rPr lang="en-IN" sz="1800" b="0" i="0" kern="1200" dirty="0" err="1">
                          <a:solidFill>
                            <a:schemeClr val="tx1"/>
                          </a:solidFill>
                          <a:effectLst/>
                          <a:latin typeface="+mn-lt"/>
                          <a:ea typeface="+mn-ea"/>
                          <a:cs typeface="+mn-cs"/>
                        </a:rPr>
                        <a:t>DaSAEs</a:t>
                      </a:r>
                      <a:r>
                        <a:rPr lang="en-IN" sz="1800" b="0" i="0" kern="1200" dirty="0">
                          <a:solidFill>
                            <a:schemeClr val="tx1"/>
                          </a:solidFill>
                          <a:effectLst/>
                          <a:latin typeface="+mn-lt"/>
                          <a:ea typeface="+mn-ea"/>
                          <a:cs typeface="+mn-cs"/>
                        </a:rPr>
                        <a:t>)</a:t>
                      </a:r>
                      <a:endParaRPr lang="en-IN" dirty="0">
                        <a:latin typeface="Californian FB" panose="0207040306080B030204" pitchFamily="18" charset="0"/>
                      </a:endParaRPr>
                    </a:p>
                  </a:txBody>
                  <a:tcPr/>
                </a:tc>
                <a:tc>
                  <a:txBody>
                    <a:bodyPr/>
                    <a:lstStyle/>
                    <a:p>
                      <a:r>
                        <a:rPr lang="en-IN" dirty="0">
                          <a:latin typeface="Californian FB" panose="0207040306080B030204" pitchFamily="18" charset="0"/>
                        </a:rPr>
                        <a:t>Accuracy, Recall.</a:t>
                      </a:r>
                    </a:p>
                  </a:txBody>
                  <a:tcPr/>
                </a:tc>
                <a:tc>
                  <a:txBody>
                    <a:bodyPr/>
                    <a:lstStyle/>
                    <a:p>
                      <a:r>
                        <a:rPr lang="en-IN" sz="1800" b="0" i="0" kern="1200" dirty="0">
                          <a:solidFill>
                            <a:schemeClr val="tx1"/>
                          </a:solidFill>
                          <a:effectLst/>
                          <a:latin typeface="+mn-lt"/>
                          <a:ea typeface="+mn-ea"/>
                          <a:cs typeface="+mn-cs"/>
                        </a:rPr>
                        <a:t>Challenge of domain shift</a:t>
                      </a:r>
                      <a:endParaRPr lang="en-IN" dirty="0">
                        <a:latin typeface="Californian FB" panose="0207040306080B030204" pitchFamily="18" charset="0"/>
                      </a:endParaRPr>
                    </a:p>
                  </a:txBody>
                  <a:tcPr/>
                </a:tc>
                <a:extLst>
                  <a:ext uri="{0D108BD9-81ED-4DB2-BD59-A6C34878D82A}">
                    <a16:rowId xmlns:a16="http://schemas.microsoft.com/office/drawing/2014/main" val="743510879"/>
                  </a:ext>
                </a:extLst>
              </a:tr>
              <a:tr h="1090844">
                <a:tc>
                  <a:txBody>
                    <a:bodyPr/>
                    <a:lstStyle/>
                    <a:p>
                      <a:r>
                        <a:rPr lang="en-IN" sz="1800" b="0" i="0" kern="1200" dirty="0">
                          <a:solidFill>
                            <a:schemeClr val="tx1"/>
                          </a:solidFill>
                          <a:effectLst/>
                          <a:latin typeface="Californian FB" panose="0207040306080B030204" pitchFamily="18" charset="0"/>
                          <a:ea typeface="+mn-ea"/>
                          <a:cs typeface="+mn-cs"/>
                        </a:rPr>
                        <a:t>Text Compression-aided Transformer Encoding</a:t>
                      </a:r>
                      <a:endParaRPr lang="en-IN" b="0" dirty="0">
                        <a:latin typeface="Californian FB" panose="0207040306080B030204" pitchFamily="18" charset="0"/>
                      </a:endParaRPr>
                    </a:p>
                  </a:txBody>
                  <a:tcPr/>
                </a:tc>
                <a:tc>
                  <a:txBody>
                    <a:bodyPr/>
                    <a:lstStyle/>
                    <a:p>
                      <a:r>
                        <a:rPr lang="en-IN" sz="1800" b="0" i="0" kern="1200" dirty="0" err="1">
                          <a:solidFill>
                            <a:schemeClr val="tx1"/>
                          </a:solidFill>
                          <a:effectLst/>
                          <a:latin typeface="Californian FB" panose="0207040306080B030204" pitchFamily="18" charset="0"/>
                          <a:ea typeface="+mn-ea"/>
                          <a:cs typeface="+mn-cs"/>
                        </a:rPr>
                        <a:t>Zuchao</a:t>
                      </a:r>
                      <a:r>
                        <a:rPr lang="en-IN" sz="1800" b="0" i="0" kern="1200" dirty="0">
                          <a:solidFill>
                            <a:schemeClr val="tx1"/>
                          </a:solidFill>
                          <a:effectLst/>
                          <a:latin typeface="Californian FB" panose="0207040306080B030204" pitchFamily="18" charset="0"/>
                          <a:ea typeface="+mn-ea"/>
                          <a:cs typeface="+mn-cs"/>
                        </a:rPr>
                        <a:t> Li, </a:t>
                      </a:r>
                      <a:r>
                        <a:rPr lang="en-IN" sz="1800" b="0" i="0" kern="1200" dirty="0" err="1">
                          <a:solidFill>
                            <a:schemeClr val="tx1"/>
                          </a:solidFill>
                          <a:effectLst/>
                          <a:latin typeface="Californian FB" panose="0207040306080B030204" pitchFamily="18" charset="0"/>
                          <a:ea typeface="+mn-ea"/>
                          <a:cs typeface="+mn-cs"/>
                        </a:rPr>
                        <a:t>Zhuosheng</a:t>
                      </a:r>
                      <a:r>
                        <a:rPr lang="en-IN" sz="1800" b="0" i="0" kern="1200" dirty="0">
                          <a:solidFill>
                            <a:schemeClr val="tx1"/>
                          </a:solidFill>
                          <a:effectLst/>
                          <a:latin typeface="Californian FB" panose="0207040306080B030204" pitchFamily="18" charset="0"/>
                          <a:ea typeface="+mn-ea"/>
                          <a:cs typeface="+mn-cs"/>
                        </a:rPr>
                        <a:t> Zhang , Hai Zhao ,Rui Wang, </a:t>
                      </a:r>
                      <a:r>
                        <a:rPr lang="en-IN" sz="1800" b="0" i="0" kern="1200" dirty="0" err="1">
                          <a:solidFill>
                            <a:schemeClr val="tx1"/>
                          </a:solidFill>
                          <a:effectLst/>
                          <a:latin typeface="Californian FB" panose="0207040306080B030204" pitchFamily="18" charset="0"/>
                          <a:ea typeface="+mn-ea"/>
                          <a:cs typeface="+mn-cs"/>
                        </a:rPr>
                        <a:t>Kehai</a:t>
                      </a:r>
                      <a:r>
                        <a:rPr lang="en-IN" sz="1800" b="0" i="0" kern="1200" dirty="0">
                          <a:solidFill>
                            <a:schemeClr val="tx1"/>
                          </a:solidFill>
                          <a:effectLst/>
                          <a:latin typeface="Californian FB" panose="0207040306080B030204" pitchFamily="18" charset="0"/>
                          <a:ea typeface="+mn-ea"/>
                          <a:cs typeface="+mn-cs"/>
                        </a:rPr>
                        <a:t> Chen,</a:t>
                      </a:r>
                    </a:p>
                    <a:p>
                      <a:r>
                        <a:rPr lang="en-IN" sz="1800" b="0" i="0" kern="1200" dirty="0">
                          <a:solidFill>
                            <a:schemeClr val="tx1"/>
                          </a:solidFill>
                          <a:effectLst/>
                          <a:latin typeface="Californian FB" panose="0207040306080B030204" pitchFamily="18" charset="0"/>
                          <a:ea typeface="+mn-ea"/>
                          <a:cs typeface="+mn-cs"/>
                        </a:rPr>
                        <a:t>Masao </a:t>
                      </a:r>
                      <a:r>
                        <a:rPr lang="en-IN" sz="1800" b="0" i="0" kern="1200" dirty="0" err="1">
                          <a:solidFill>
                            <a:schemeClr val="tx1"/>
                          </a:solidFill>
                          <a:effectLst/>
                          <a:latin typeface="Californian FB" panose="0207040306080B030204" pitchFamily="18" charset="0"/>
                          <a:ea typeface="+mn-ea"/>
                          <a:cs typeface="+mn-cs"/>
                        </a:rPr>
                        <a:t>Utiyama</a:t>
                      </a:r>
                      <a:r>
                        <a:rPr lang="en-IN" sz="1800" b="0" i="0" kern="1200" dirty="0">
                          <a:solidFill>
                            <a:schemeClr val="tx1"/>
                          </a:solidFill>
                          <a:effectLst/>
                          <a:latin typeface="Californian FB" panose="0207040306080B030204" pitchFamily="18" charset="0"/>
                          <a:ea typeface="+mn-ea"/>
                          <a:cs typeface="+mn-cs"/>
                        </a:rPr>
                        <a:t> ,Eiichiro Sumita</a:t>
                      </a:r>
                    </a:p>
                    <a:p>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Annotated </a:t>
                      </a:r>
                      <a:r>
                        <a:rPr lang="en-IN" sz="1800" b="0" i="0" kern="1200" dirty="0" err="1">
                          <a:solidFill>
                            <a:schemeClr val="tx1"/>
                          </a:solidFill>
                          <a:effectLst/>
                          <a:latin typeface="Californian FB" panose="0207040306080B030204" pitchFamily="18" charset="0"/>
                          <a:ea typeface="+mn-ea"/>
                          <a:cs typeface="+mn-cs"/>
                        </a:rPr>
                        <a:t>Gigaword</a:t>
                      </a:r>
                      <a:r>
                        <a:rPr lang="en-IN" sz="1800" b="0" i="0" kern="1200" dirty="0">
                          <a:solidFill>
                            <a:schemeClr val="tx1"/>
                          </a:solidFill>
                          <a:effectLst/>
                          <a:latin typeface="Californian FB" panose="0207040306080B030204" pitchFamily="18" charset="0"/>
                          <a:ea typeface="+mn-ea"/>
                          <a:cs typeface="+mn-cs"/>
                        </a:rPr>
                        <a:t> corpus, CNN/</a:t>
                      </a:r>
                      <a:r>
                        <a:rPr lang="en-IN" sz="1800" b="0" i="0" kern="1200" dirty="0" err="1">
                          <a:solidFill>
                            <a:schemeClr val="tx1"/>
                          </a:solidFill>
                          <a:effectLst/>
                          <a:latin typeface="Californian FB" panose="0207040306080B030204" pitchFamily="18" charset="0"/>
                          <a:ea typeface="+mn-ea"/>
                          <a:cs typeface="+mn-cs"/>
                        </a:rPr>
                        <a:t>DailyMail</a:t>
                      </a:r>
                      <a:r>
                        <a:rPr lang="en-IN" sz="1800" b="0" i="0" kern="1200" dirty="0">
                          <a:solidFill>
                            <a:schemeClr val="tx1"/>
                          </a:solidFill>
                          <a:effectLst/>
                          <a:latin typeface="Californian FB" panose="0207040306080B030204" pitchFamily="18" charset="0"/>
                          <a:ea typeface="+mn-ea"/>
                          <a:cs typeface="+mn-cs"/>
                        </a:rPr>
                        <a:t> CNN/DM, WMT News Crawl datasets , </a:t>
                      </a:r>
                      <a:r>
                        <a:rPr lang="en-IN" sz="1800" b="0" i="0" kern="1200" dirty="0" err="1">
                          <a:solidFill>
                            <a:schemeClr val="tx1"/>
                          </a:solidFill>
                          <a:effectLst/>
                          <a:latin typeface="Californian FB" panose="0207040306080B030204" pitchFamily="18" charset="0"/>
                          <a:ea typeface="+mn-ea"/>
                          <a:cs typeface="+mn-cs"/>
                        </a:rPr>
                        <a:t>SQuAD</a:t>
                      </a:r>
                      <a:r>
                        <a:rPr lang="en-IN" sz="1800" b="0" i="0" kern="1200" dirty="0">
                          <a:solidFill>
                            <a:schemeClr val="tx1"/>
                          </a:solidFill>
                          <a:effectLst/>
                          <a:latin typeface="Californian FB" panose="0207040306080B030204" pitchFamily="18" charset="0"/>
                          <a:ea typeface="+mn-ea"/>
                          <a:cs typeface="+mn-cs"/>
                        </a:rPr>
                        <a:t> 2.0 , Multi-Genre Natural Language Inference (MNLI)</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Transformer encoder, Explicit Text Compression (ETC), Implicit Text Compression (ITC).</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ROUGE-1 (R-1), ROUGE-2 (R-2), and ROUGE-L (R-L) ,</a:t>
                      </a:r>
                      <a:r>
                        <a:rPr lang="en-IN" sz="1800" b="0" i="0" kern="1200" dirty="0">
                          <a:solidFill>
                            <a:schemeClr val="tx1"/>
                          </a:solidFill>
                          <a:effectLst/>
                          <a:latin typeface="Californian FB" panose="0207040306080B030204" pitchFamily="18" charset="0"/>
                          <a:ea typeface="+mn-ea"/>
                          <a:cs typeface="+mn-cs"/>
                        </a:rPr>
                        <a:t>  BLEU score,</a:t>
                      </a:r>
                      <a:r>
                        <a:rPr lang="en-US" sz="1800" b="0" i="0" kern="1200" dirty="0">
                          <a:solidFill>
                            <a:schemeClr val="tx1"/>
                          </a:solidFill>
                          <a:effectLst/>
                          <a:latin typeface="Californian FB" panose="0207040306080B030204" pitchFamily="18" charset="0"/>
                          <a:ea typeface="+mn-ea"/>
                          <a:cs typeface="+mn-cs"/>
                        </a:rPr>
                        <a:t> Exact Match (EM) and F1 score for </a:t>
                      </a:r>
                      <a:r>
                        <a:rPr lang="en-US" sz="1800" b="0" i="0" kern="1200" dirty="0" err="1">
                          <a:solidFill>
                            <a:schemeClr val="tx1"/>
                          </a:solidFill>
                          <a:effectLst/>
                          <a:latin typeface="Californian FB" panose="0207040306080B030204" pitchFamily="18" charset="0"/>
                          <a:ea typeface="+mn-ea"/>
                          <a:cs typeface="+mn-cs"/>
                        </a:rPr>
                        <a:t>SQuAD</a:t>
                      </a:r>
                      <a:r>
                        <a:rPr lang="en-US" sz="1800" b="0" i="0" kern="1200" dirty="0">
                          <a:solidFill>
                            <a:schemeClr val="tx1"/>
                          </a:solidFill>
                          <a:effectLst/>
                          <a:latin typeface="Californian FB" panose="0207040306080B030204" pitchFamily="18" charset="0"/>
                          <a:ea typeface="+mn-ea"/>
                          <a:cs typeface="+mn-cs"/>
                        </a:rPr>
                        <a:t> 2.0 , Accuracy for RACE.</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ETC Joint Training Speed, ITC Performance on Text Compression, Non-autoregressive Decoder Weaknesses, Domain Inconsistency.</a:t>
                      </a:r>
                    </a:p>
                  </a:txBody>
                  <a:tcPr/>
                </a:tc>
                <a:extLst>
                  <a:ext uri="{0D108BD9-81ED-4DB2-BD59-A6C34878D82A}">
                    <a16:rowId xmlns:a16="http://schemas.microsoft.com/office/drawing/2014/main" val="3014901865"/>
                  </a:ext>
                </a:extLst>
              </a:tr>
            </a:tbl>
          </a:graphicData>
        </a:graphic>
      </p:graphicFrame>
    </p:spTree>
    <p:extLst>
      <p:ext uri="{BB962C8B-B14F-4D97-AF65-F5344CB8AC3E}">
        <p14:creationId xmlns:p14="http://schemas.microsoft.com/office/powerpoint/2010/main" val="300336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51E5E-8F68-68C6-5A3B-8950B175B3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CC04EA-3596-E371-E02E-226F06308772}"/>
              </a:ext>
            </a:extLst>
          </p:cNvPr>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a:extLst>
              <a:ext uri="{FF2B5EF4-FFF2-40B4-BE49-F238E27FC236}">
                <a16:creationId xmlns:a16="http://schemas.microsoft.com/office/drawing/2014/main" id="{BDAEF76B-D3AA-203B-88DF-027070A4C40C}"/>
              </a:ext>
            </a:extLst>
          </p:cNvPr>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7" name="Freeform 7">
            <a:extLst>
              <a:ext uri="{FF2B5EF4-FFF2-40B4-BE49-F238E27FC236}">
                <a16:creationId xmlns:a16="http://schemas.microsoft.com/office/drawing/2014/main" id="{E0B36562-96AC-76CA-C0BE-B7E88B1C82B6}"/>
              </a:ext>
            </a:extLst>
          </p:cNvPr>
          <p:cNvSpPr/>
          <p:nvPr/>
        </p:nvSpPr>
        <p:spPr>
          <a:xfrm>
            <a:off x="681372" y="7639690"/>
            <a:ext cx="1082024" cy="993495"/>
          </a:xfrm>
          <a:custGeom>
            <a:avLst/>
            <a:gdLst/>
            <a:ahLst/>
            <a:cxnLst/>
            <a:rect l="l" t="t" r="r" b="b"/>
            <a:pathLst>
              <a:path w="1082024" h="993495">
                <a:moveTo>
                  <a:pt x="0" y="0"/>
                </a:moveTo>
                <a:lnTo>
                  <a:pt x="1082024" y="0"/>
                </a:lnTo>
                <a:lnTo>
                  <a:pt x="1082024" y="993494"/>
                </a:lnTo>
                <a:lnTo>
                  <a:pt x="0" y="99349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8" name="Freeform 8">
            <a:extLst>
              <a:ext uri="{FF2B5EF4-FFF2-40B4-BE49-F238E27FC236}">
                <a16:creationId xmlns:a16="http://schemas.microsoft.com/office/drawing/2014/main" id="{B07D6271-4400-D175-B086-C00D87489A53}"/>
              </a:ext>
            </a:extLst>
          </p:cNvPr>
          <p:cNvSpPr/>
          <p:nvPr/>
        </p:nvSpPr>
        <p:spPr>
          <a:xfrm>
            <a:off x="1763396" y="8380061"/>
            <a:ext cx="721352" cy="662333"/>
          </a:xfrm>
          <a:custGeom>
            <a:avLst/>
            <a:gdLst/>
            <a:ahLst/>
            <a:cxnLst/>
            <a:rect l="l" t="t" r="r" b="b"/>
            <a:pathLst>
              <a:path w="721352" h="662333">
                <a:moveTo>
                  <a:pt x="0" y="0"/>
                </a:moveTo>
                <a:lnTo>
                  <a:pt x="721352" y="0"/>
                </a:lnTo>
                <a:lnTo>
                  <a:pt x="721352" y="662332"/>
                </a:lnTo>
                <a:lnTo>
                  <a:pt x="0" y="66233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9" name="Freeform 9">
            <a:extLst>
              <a:ext uri="{FF2B5EF4-FFF2-40B4-BE49-F238E27FC236}">
                <a16:creationId xmlns:a16="http://schemas.microsoft.com/office/drawing/2014/main" id="{C18835EC-7C6C-52F3-1A97-FFB44080FA02}"/>
              </a:ext>
            </a:extLst>
          </p:cNvPr>
          <p:cNvSpPr/>
          <p:nvPr/>
        </p:nvSpPr>
        <p:spPr>
          <a:xfrm>
            <a:off x="1103400" y="9133931"/>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10" name="Freeform 10">
            <a:extLst>
              <a:ext uri="{FF2B5EF4-FFF2-40B4-BE49-F238E27FC236}">
                <a16:creationId xmlns:a16="http://schemas.microsoft.com/office/drawing/2014/main" id="{F4C5392F-4956-985B-1ABD-DC1C502A2C99}"/>
              </a:ext>
            </a:extLst>
          </p:cNvPr>
          <p:cNvSpPr/>
          <p:nvPr/>
        </p:nvSpPr>
        <p:spPr>
          <a:xfrm flipH="1">
            <a:off x="14961045" y="615014"/>
            <a:ext cx="2298255" cy="827372"/>
          </a:xfrm>
          <a:custGeom>
            <a:avLst/>
            <a:gdLst/>
            <a:ahLst/>
            <a:cxnLst/>
            <a:rect l="l" t="t" r="r" b="b"/>
            <a:pathLst>
              <a:path w="2298255" h="827372">
                <a:moveTo>
                  <a:pt x="2298255" y="0"/>
                </a:moveTo>
                <a:lnTo>
                  <a:pt x="0" y="0"/>
                </a:lnTo>
                <a:lnTo>
                  <a:pt x="0" y="827372"/>
                </a:lnTo>
                <a:lnTo>
                  <a:pt x="2298255" y="827372"/>
                </a:lnTo>
                <a:lnTo>
                  <a:pt x="2298255"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3" name="TextBox 13">
            <a:extLst>
              <a:ext uri="{FF2B5EF4-FFF2-40B4-BE49-F238E27FC236}">
                <a16:creationId xmlns:a16="http://schemas.microsoft.com/office/drawing/2014/main" id="{F30EE8A8-5AC9-C1D3-2262-0131BD466A6B}"/>
              </a:ext>
            </a:extLst>
          </p:cNvPr>
          <p:cNvSpPr txBox="1"/>
          <p:nvPr/>
        </p:nvSpPr>
        <p:spPr>
          <a:xfrm>
            <a:off x="3527662" y="1207231"/>
            <a:ext cx="11232676" cy="724301"/>
          </a:xfrm>
          <a:prstGeom prst="rect">
            <a:avLst/>
          </a:prstGeom>
        </p:spPr>
        <p:txBody>
          <a:bodyPr lIns="0" tIns="0" rIns="0" bIns="0" rtlCol="0" anchor="t">
            <a:spAutoFit/>
          </a:bodyPr>
          <a:lstStyle/>
          <a:p>
            <a:pPr algn="ctr">
              <a:lnSpc>
                <a:spcPts val="6413"/>
              </a:lnSpc>
            </a:pPr>
            <a:r>
              <a:rPr lang="en-US" sz="5300" dirty="0">
                <a:solidFill>
                  <a:srgbClr val="0A8271"/>
                </a:solidFill>
                <a:latin typeface="Bernoru"/>
                <a:ea typeface="Bernoru"/>
                <a:cs typeface="Bernoru"/>
                <a:sym typeface="Bernoru"/>
              </a:rPr>
              <a:t>LITERATURE SURVEY</a:t>
            </a:r>
          </a:p>
        </p:txBody>
      </p:sp>
      <p:graphicFrame>
        <p:nvGraphicFramePr>
          <p:cNvPr id="15" name="Table 14">
            <a:extLst>
              <a:ext uri="{FF2B5EF4-FFF2-40B4-BE49-F238E27FC236}">
                <a16:creationId xmlns:a16="http://schemas.microsoft.com/office/drawing/2014/main" id="{922819D2-86AD-A424-D745-08DAFFA41B91}"/>
              </a:ext>
            </a:extLst>
          </p:cNvPr>
          <p:cNvGraphicFramePr>
            <a:graphicFrameLocks noGrp="1"/>
          </p:cNvGraphicFramePr>
          <p:nvPr>
            <p:extLst>
              <p:ext uri="{D42A27DB-BD31-4B8C-83A1-F6EECF244321}">
                <p14:modId xmlns:p14="http://schemas.microsoft.com/office/powerpoint/2010/main" val="162041809"/>
              </p:ext>
            </p:extLst>
          </p:nvPr>
        </p:nvGraphicFramePr>
        <p:xfrm>
          <a:off x="2219811" y="2171701"/>
          <a:ext cx="14156790" cy="7798798"/>
        </p:xfrm>
        <a:graphic>
          <a:graphicData uri="http://schemas.openxmlformats.org/drawingml/2006/table">
            <a:tbl>
              <a:tblPr firstRow="1" bandRow="1">
                <a:tableStyleId>{BDBED569-4797-4DF1-A0F4-6AAB3CD982D8}</a:tableStyleId>
              </a:tblPr>
              <a:tblGrid>
                <a:gridCol w="2595142">
                  <a:extLst>
                    <a:ext uri="{9D8B030D-6E8A-4147-A177-3AD203B41FA5}">
                      <a16:colId xmlns:a16="http://schemas.microsoft.com/office/drawing/2014/main" val="1114153299"/>
                    </a:ext>
                  </a:extLst>
                </a:gridCol>
                <a:gridCol w="2247373">
                  <a:extLst>
                    <a:ext uri="{9D8B030D-6E8A-4147-A177-3AD203B41FA5}">
                      <a16:colId xmlns:a16="http://schemas.microsoft.com/office/drawing/2014/main" val="3463030923"/>
                    </a:ext>
                  </a:extLst>
                </a:gridCol>
                <a:gridCol w="2427163">
                  <a:extLst>
                    <a:ext uri="{9D8B030D-6E8A-4147-A177-3AD203B41FA5}">
                      <a16:colId xmlns:a16="http://schemas.microsoft.com/office/drawing/2014/main" val="3402333370"/>
                    </a:ext>
                  </a:extLst>
                </a:gridCol>
                <a:gridCol w="2337268">
                  <a:extLst>
                    <a:ext uri="{9D8B030D-6E8A-4147-A177-3AD203B41FA5}">
                      <a16:colId xmlns:a16="http://schemas.microsoft.com/office/drawing/2014/main" val="2440352369"/>
                    </a:ext>
                  </a:extLst>
                </a:gridCol>
                <a:gridCol w="2067583">
                  <a:extLst>
                    <a:ext uri="{9D8B030D-6E8A-4147-A177-3AD203B41FA5}">
                      <a16:colId xmlns:a16="http://schemas.microsoft.com/office/drawing/2014/main" val="4161939234"/>
                    </a:ext>
                  </a:extLst>
                </a:gridCol>
                <a:gridCol w="2482261">
                  <a:extLst>
                    <a:ext uri="{9D8B030D-6E8A-4147-A177-3AD203B41FA5}">
                      <a16:colId xmlns:a16="http://schemas.microsoft.com/office/drawing/2014/main" val="712059927"/>
                    </a:ext>
                  </a:extLst>
                </a:gridCol>
              </a:tblGrid>
              <a:tr h="947040">
                <a:tc>
                  <a:txBody>
                    <a:bodyPr/>
                    <a:lstStyle/>
                    <a:p>
                      <a:pPr algn="ctr"/>
                      <a:r>
                        <a:rPr lang="en-IN" sz="2400" dirty="0">
                          <a:solidFill>
                            <a:schemeClr val="tx1"/>
                          </a:solidFill>
                          <a:latin typeface="Magnolia Script" panose="020B0604020202020204" charset="0"/>
                        </a:rPr>
                        <a:t>Title</a:t>
                      </a:r>
                    </a:p>
                  </a:txBody>
                  <a:tcPr/>
                </a:tc>
                <a:tc>
                  <a:txBody>
                    <a:bodyPr/>
                    <a:lstStyle/>
                    <a:p>
                      <a:pPr algn="ctr"/>
                      <a:r>
                        <a:rPr lang="en-IN" sz="2400" dirty="0">
                          <a:solidFill>
                            <a:schemeClr val="tx1"/>
                          </a:solidFill>
                          <a:latin typeface="Magnolia Script" panose="020B0604020202020204" charset="0"/>
                        </a:rPr>
                        <a:t>Author name</a:t>
                      </a:r>
                    </a:p>
                  </a:txBody>
                  <a:tcPr/>
                </a:tc>
                <a:tc>
                  <a:txBody>
                    <a:bodyPr/>
                    <a:lstStyle/>
                    <a:p>
                      <a:pPr algn="ctr"/>
                      <a:r>
                        <a:rPr lang="en-IN" sz="2400" dirty="0">
                          <a:solidFill>
                            <a:schemeClr val="tx1"/>
                          </a:solidFill>
                          <a:latin typeface="Magnolia Script" panose="020B0604020202020204" charset="0"/>
                        </a:rPr>
                        <a:t>Dataset Used</a:t>
                      </a:r>
                    </a:p>
                  </a:txBody>
                  <a:tcPr/>
                </a:tc>
                <a:tc>
                  <a:txBody>
                    <a:bodyPr/>
                    <a:lstStyle/>
                    <a:p>
                      <a:pPr algn="ctr"/>
                      <a:r>
                        <a:rPr lang="en-IN" sz="2400" dirty="0">
                          <a:solidFill>
                            <a:schemeClr val="tx1"/>
                          </a:solidFill>
                          <a:latin typeface="Magnolia Script" panose="020B0604020202020204" charset="0"/>
                        </a:rPr>
                        <a:t>Model used</a:t>
                      </a:r>
                    </a:p>
                  </a:txBody>
                  <a:tcPr/>
                </a:tc>
                <a:tc>
                  <a:txBody>
                    <a:bodyPr/>
                    <a:lstStyle/>
                    <a:p>
                      <a:pPr algn="ctr"/>
                      <a:r>
                        <a:rPr lang="en-IN" sz="2400" dirty="0">
                          <a:solidFill>
                            <a:schemeClr val="tx1"/>
                          </a:solidFill>
                          <a:latin typeface="Magnolia Script" panose="020B0604020202020204" charset="0"/>
                        </a:rPr>
                        <a:t>Metrics</a:t>
                      </a:r>
                    </a:p>
                  </a:txBody>
                  <a:tcPr/>
                </a:tc>
                <a:tc>
                  <a:txBody>
                    <a:bodyPr/>
                    <a:lstStyle/>
                    <a:p>
                      <a:pPr algn="ctr"/>
                      <a:r>
                        <a:rPr lang="en-IN" sz="2400" dirty="0">
                          <a:solidFill>
                            <a:schemeClr val="tx1"/>
                          </a:solidFill>
                          <a:latin typeface="Magnolia Script" panose="020B0604020202020204" charset="0"/>
                        </a:rPr>
                        <a:t>Limitations</a:t>
                      </a:r>
                    </a:p>
                  </a:txBody>
                  <a:tcPr/>
                </a:tc>
                <a:extLst>
                  <a:ext uri="{0D108BD9-81ED-4DB2-BD59-A6C34878D82A}">
                    <a16:rowId xmlns:a16="http://schemas.microsoft.com/office/drawing/2014/main" val="3483796142"/>
                  </a:ext>
                </a:extLst>
              </a:tr>
              <a:tr h="1887769">
                <a:tc>
                  <a:txBody>
                    <a:bodyPr/>
                    <a:lstStyle/>
                    <a:p>
                      <a:r>
                        <a:rPr lang="en-US" sz="1800" b="0" i="0" kern="1200" dirty="0">
                          <a:solidFill>
                            <a:schemeClr val="tx1"/>
                          </a:solidFill>
                          <a:effectLst/>
                          <a:latin typeface="Californian FB" panose="0207040306080B030204" pitchFamily="18" charset="0"/>
                          <a:ea typeface="+mn-ea"/>
                          <a:cs typeface="+mn-cs"/>
                        </a:rPr>
                        <a:t>Quantum Text Encoding for Classification Tasks</a:t>
                      </a:r>
                      <a:endParaRPr lang="en-IN" b="0" dirty="0">
                        <a:latin typeface="Californian FB" panose="0207040306080B030204" pitchFamily="18" charset="0"/>
                      </a:endParaRPr>
                    </a:p>
                  </a:txBody>
                  <a:tcPr/>
                </a:tc>
                <a:tc>
                  <a:txBody>
                    <a:bodyPr/>
                    <a:lstStyle/>
                    <a:p>
                      <a:r>
                        <a:rPr lang="en-IN" dirty="0" err="1">
                          <a:latin typeface="Californian FB" panose="0207040306080B030204" pitchFamily="18" charset="0"/>
                        </a:rPr>
                        <a:t>Aaranyalexander</a:t>
                      </a:r>
                      <a:r>
                        <a:rPr lang="en-IN" dirty="0">
                          <a:latin typeface="Californian FB" panose="0207040306080B030204" pitchFamily="18" charset="0"/>
                        </a:rPr>
                        <a:t>, Dominic Widdows</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dataset of 50 actual movie reviews for predicting sentiment. It also mentions previous results on an artificial dataset of 100 short sentences </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Amplitude encoded feature map combined with a quantum support vector machine.</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An average accuracy of 62% for sentiment prediction</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Dataset is considered small, </a:t>
                      </a:r>
                      <a:r>
                        <a:rPr lang="en-US" sz="1800" b="0" i="0" kern="1200" dirty="0">
                          <a:solidFill>
                            <a:schemeClr val="tx1"/>
                          </a:solidFill>
                          <a:effectLst/>
                          <a:latin typeface="Californian FB" panose="0207040306080B030204" pitchFamily="18" charset="0"/>
                          <a:ea typeface="+mn-ea"/>
                          <a:cs typeface="+mn-cs"/>
                        </a:rPr>
                        <a:t>Previous methods achieved perfect accuracy but at the unscalable cost of using a qubit for each word.</a:t>
                      </a:r>
                      <a:endParaRPr lang="en-IN" b="0" dirty="0">
                        <a:latin typeface="Californian FB" panose="0207040306080B030204" pitchFamily="18" charset="0"/>
                      </a:endParaRPr>
                    </a:p>
                  </a:txBody>
                  <a:tcPr/>
                </a:tc>
                <a:extLst>
                  <a:ext uri="{0D108BD9-81ED-4DB2-BD59-A6C34878D82A}">
                    <a16:rowId xmlns:a16="http://schemas.microsoft.com/office/drawing/2014/main" val="3320052280"/>
                  </a:ext>
                </a:extLst>
              </a:tr>
              <a:tr h="2660039">
                <a:tc>
                  <a:txBody>
                    <a:bodyPr/>
                    <a:lstStyle/>
                    <a:p>
                      <a:r>
                        <a:rPr lang="en-US" sz="1800" b="0" i="0" kern="1200" dirty="0" err="1">
                          <a:solidFill>
                            <a:schemeClr val="tx1"/>
                          </a:solidFill>
                          <a:effectLst/>
                          <a:latin typeface="Californian FB" panose="0207040306080B030204" pitchFamily="18" charset="0"/>
                          <a:ea typeface="+mn-ea"/>
                          <a:cs typeface="+mn-cs"/>
                        </a:rPr>
                        <a:t>BioBERT</a:t>
                      </a:r>
                      <a:r>
                        <a:rPr lang="en-US" sz="1800" b="0" i="0" kern="1200" dirty="0">
                          <a:solidFill>
                            <a:schemeClr val="tx1"/>
                          </a:solidFill>
                          <a:effectLst/>
                          <a:latin typeface="Californian FB" panose="0207040306080B030204" pitchFamily="18" charset="0"/>
                          <a:ea typeface="+mn-ea"/>
                          <a:cs typeface="+mn-cs"/>
                        </a:rPr>
                        <a:t>-based Deep Learning and Merged ChemProt-DrugProt for Enhanced Biomedical Relation Extraction</a:t>
                      </a:r>
                      <a:endParaRPr lang="en-IN"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 Bridget T. McInnes, PhD, Jiawei Tang, MS, Darshini Mahendran, PhD, and Mai H. Nguyen, PhD.</a:t>
                      </a:r>
                      <a:br>
                        <a:rPr lang="en-IN" sz="1800" b="1" i="0" kern="1200" dirty="0">
                          <a:solidFill>
                            <a:schemeClr val="tx1"/>
                          </a:solidFill>
                          <a:effectLst/>
                          <a:latin typeface="Californian FB" panose="0207040306080B030204" pitchFamily="18" charset="0"/>
                          <a:ea typeface="+mn-ea"/>
                          <a:cs typeface="+mn-cs"/>
                        </a:rPr>
                      </a:br>
                      <a:endParaRPr lang="en-IN" dirty="0">
                        <a:latin typeface="Californian FB" panose="0207040306080B030204" pitchFamily="18" charset="0"/>
                      </a:endParaRPr>
                    </a:p>
                  </a:txBody>
                  <a:tcPr/>
                </a:tc>
                <a:tc>
                  <a:txBody>
                    <a:bodyPr/>
                    <a:lstStyle/>
                    <a:p>
                      <a:r>
                        <a:rPr lang="en-IN" sz="1800" b="0" i="0" kern="1200" dirty="0" err="1">
                          <a:solidFill>
                            <a:schemeClr val="tx1"/>
                          </a:solidFill>
                          <a:effectLst/>
                          <a:latin typeface="Californian FB" panose="0207040306080B030204" pitchFamily="18" charset="0"/>
                          <a:ea typeface="+mn-ea"/>
                          <a:cs typeface="+mn-cs"/>
                        </a:rPr>
                        <a:t>ChemProt</a:t>
                      </a:r>
                      <a:r>
                        <a:rPr lang="en-IN" sz="1800" b="0" i="0" kern="1200" dirty="0">
                          <a:solidFill>
                            <a:schemeClr val="tx1"/>
                          </a:solidFill>
                          <a:effectLst/>
                          <a:latin typeface="Californian FB" panose="0207040306080B030204" pitchFamily="18" charset="0"/>
                          <a:ea typeface="+mn-ea"/>
                          <a:cs typeface="+mn-cs"/>
                        </a:rPr>
                        <a:t> and </a:t>
                      </a:r>
                      <a:r>
                        <a:rPr lang="en-IN" sz="1800" b="0" i="0" kern="1200" dirty="0" err="1">
                          <a:solidFill>
                            <a:schemeClr val="tx1"/>
                          </a:solidFill>
                          <a:effectLst/>
                          <a:latin typeface="Californian FB" panose="0207040306080B030204" pitchFamily="18" charset="0"/>
                          <a:ea typeface="+mn-ea"/>
                          <a:cs typeface="+mn-cs"/>
                        </a:rPr>
                        <a:t>DrugProt</a:t>
                      </a:r>
                      <a:endParaRPr lang="en-IN" dirty="0">
                        <a:latin typeface="Californian FB" panose="0207040306080B030204" pitchFamily="18" charset="0"/>
                      </a:endParaRPr>
                    </a:p>
                  </a:txBody>
                  <a:tcPr/>
                </a:tc>
                <a:tc>
                  <a:txBody>
                    <a:bodyPr/>
                    <a:lstStyle/>
                    <a:p>
                      <a:r>
                        <a:rPr lang="en-IN" sz="1800" b="1" i="0" kern="1200" dirty="0" err="1">
                          <a:solidFill>
                            <a:schemeClr val="tx1"/>
                          </a:solidFill>
                          <a:effectLst/>
                          <a:latin typeface="Californian FB" panose="0207040306080B030204" pitchFamily="18" charset="0"/>
                          <a:ea typeface="+mn-ea"/>
                          <a:cs typeface="+mn-cs"/>
                        </a:rPr>
                        <a:t>BioBERT</a:t>
                      </a:r>
                      <a:r>
                        <a:rPr lang="en-IN" sz="1800" b="1" i="0" kern="1200" dirty="0">
                          <a:solidFill>
                            <a:schemeClr val="tx1"/>
                          </a:solidFill>
                          <a:effectLst/>
                          <a:latin typeface="Californian FB" panose="0207040306080B030204" pitchFamily="18" charset="0"/>
                          <a:ea typeface="+mn-ea"/>
                          <a:cs typeface="+mn-cs"/>
                        </a:rPr>
                        <a:t> Model, Fully Connected Top Layer, </a:t>
                      </a:r>
                      <a:endParaRPr lang="en-IN"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Precision, recall, and F1 score</a:t>
                      </a:r>
                      <a:r>
                        <a:rPr lang="en-IN" dirty="0">
                          <a:latin typeface="Californian FB" panose="0207040306080B030204" pitchFamily="18" charset="0"/>
                        </a:rPr>
                        <a:t>.</a:t>
                      </a:r>
                    </a:p>
                  </a:txBody>
                  <a:tcPr/>
                </a:tc>
                <a:tc>
                  <a:txBody>
                    <a:bodyPr/>
                    <a:lstStyle/>
                    <a:p>
                      <a:r>
                        <a:rPr lang="en-US" sz="1800" b="0" i="0" kern="1200" dirty="0">
                          <a:solidFill>
                            <a:schemeClr val="tx1"/>
                          </a:solidFill>
                          <a:effectLst/>
                          <a:latin typeface="Californian FB" panose="0207040306080B030204" pitchFamily="18" charset="0"/>
                          <a:ea typeface="+mn-ea"/>
                          <a:cs typeface="+mn-cs"/>
                        </a:rPr>
                        <a:t>While the inclusion of the top model enhanced the F1 score, this enhancement was not statistically significant, suggesting that achieving state-of-the-art results does not necessarily require a more complex system</a:t>
                      </a:r>
                      <a:endParaRPr lang="en-IN" dirty="0">
                        <a:latin typeface="Californian FB" panose="0207040306080B030204" pitchFamily="18" charset="0"/>
                      </a:endParaRPr>
                    </a:p>
                  </a:txBody>
                  <a:tcPr/>
                </a:tc>
                <a:extLst>
                  <a:ext uri="{0D108BD9-81ED-4DB2-BD59-A6C34878D82A}">
                    <a16:rowId xmlns:a16="http://schemas.microsoft.com/office/drawing/2014/main" val="743510879"/>
                  </a:ext>
                </a:extLst>
              </a:tr>
              <a:tr h="2005438">
                <a:tc>
                  <a:txBody>
                    <a:bodyPr/>
                    <a:lstStyle/>
                    <a:p>
                      <a:r>
                        <a:rPr lang="en-US" sz="1800" b="0" i="0" kern="1200" dirty="0">
                          <a:solidFill>
                            <a:schemeClr val="tx1"/>
                          </a:solidFill>
                          <a:effectLst/>
                          <a:latin typeface="Californian FB" panose="0207040306080B030204" pitchFamily="18" charset="0"/>
                          <a:ea typeface="+mn-ea"/>
                          <a:cs typeface="+mn-cs"/>
                        </a:rPr>
                        <a:t>An Analysis On Large Language Models In Healthcare: A Case Study Of </a:t>
                      </a:r>
                      <a:r>
                        <a:rPr lang="en-US" sz="1800" b="0" i="0" kern="1200" dirty="0" err="1">
                          <a:solidFill>
                            <a:schemeClr val="tx1"/>
                          </a:solidFill>
                          <a:effectLst/>
                          <a:latin typeface="Californian FB" panose="0207040306080B030204" pitchFamily="18" charset="0"/>
                          <a:ea typeface="+mn-ea"/>
                          <a:cs typeface="+mn-cs"/>
                        </a:rPr>
                        <a:t>Biobert</a:t>
                      </a:r>
                      <a:endParaRPr lang="en-IN" b="0" dirty="0">
                        <a:latin typeface="Californian FB" panose="0207040306080B030204" pitchFamily="18" charset="0"/>
                      </a:endParaRPr>
                    </a:p>
                  </a:txBody>
                  <a:tcPr/>
                </a:tc>
                <a:tc>
                  <a:txBody>
                    <a:bodyPr/>
                    <a:lstStyle/>
                    <a:p>
                      <a:r>
                        <a:rPr lang="en-US" sz="1800" b="0" i="0" kern="1200" dirty="0" err="1">
                          <a:solidFill>
                            <a:schemeClr val="tx1"/>
                          </a:solidFill>
                          <a:effectLst/>
                          <a:latin typeface="Californian FB" panose="0207040306080B030204" pitchFamily="18" charset="0"/>
                          <a:ea typeface="+mn-ea"/>
                          <a:cs typeface="+mn-cs"/>
                        </a:rPr>
                        <a:t>Shyni</a:t>
                      </a:r>
                      <a:r>
                        <a:rPr lang="en-US" sz="1800" b="0" i="0" kern="1200" dirty="0">
                          <a:solidFill>
                            <a:schemeClr val="tx1"/>
                          </a:solidFill>
                          <a:effectLst/>
                          <a:latin typeface="Californian FB" panose="0207040306080B030204" pitchFamily="18" charset="0"/>
                          <a:ea typeface="+mn-ea"/>
                          <a:cs typeface="+mn-cs"/>
                        </a:rPr>
                        <a:t> Sharaf and V. S. Anoop</a:t>
                      </a:r>
                      <a:endParaRPr lang="en-IN" b="0" dirty="0">
                        <a:latin typeface="Californian FB" panose="0207040306080B030204" pitchFamily="18" charset="0"/>
                      </a:endParaRPr>
                    </a:p>
                  </a:txBody>
                  <a:tcPr/>
                </a:tc>
                <a:tc>
                  <a:txBody>
                    <a:bodyPr/>
                    <a:lstStyle/>
                    <a:p>
                      <a:r>
                        <a:rPr lang="en-IN" sz="1800" b="0" i="0" kern="1200" dirty="0" err="1">
                          <a:solidFill>
                            <a:schemeClr val="tx1"/>
                          </a:solidFill>
                          <a:effectLst/>
                          <a:latin typeface="Californian FB" panose="0207040306080B030204" pitchFamily="18" charset="0"/>
                          <a:ea typeface="+mn-ea"/>
                          <a:cs typeface="+mn-cs"/>
                        </a:rPr>
                        <a:t>MedQA</a:t>
                      </a:r>
                      <a:r>
                        <a:rPr lang="en-IN" sz="1800" b="0" i="0" kern="1200" dirty="0">
                          <a:solidFill>
                            <a:schemeClr val="tx1"/>
                          </a:solidFill>
                          <a:effectLst/>
                          <a:latin typeface="Californian FB" panose="0207040306080B030204" pitchFamily="18" charset="0"/>
                          <a:ea typeface="+mn-ea"/>
                          <a:cs typeface="+mn-cs"/>
                        </a:rPr>
                        <a:t> dataset</a:t>
                      </a:r>
                      <a:endParaRPr lang="en-IN" b="0" dirty="0">
                        <a:latin typeface="Californian FB" panose="0207040306080B030204" pitchFamily="18" charset="0"/>
                      </a:endParaRPr>
                    </a:p>
                  </a:txBody>
                  <a:tcPr/>
                </a:tc>
                <a:tc>
                  <a:txBody>
                    <a:bodyPr/>
                    <a:lstStyle/>
                    <a:p>
                      <a:r>
                        <a:rPr lang="en-IN" sz="1800" b="0" i="0" kern="1200" dirty="0" err="1">
                          <a:solidFill>
                            <a:schemeClr val="tx1"/>
                          </a:solidFill>
                          <a:effectLst/>
                          <a:latin typeface="Californian FB" panose="0207040306080B030204" pitchFamily="18" charset="0"/>
                          <a:ea typeface="+mn-ea"/>
                          <a:cs typeface="+mn-cs"/>
                        </a:rPr>
                        <a:t>BioBERT</a:t>
                      </a:r>
                      <a:r>
                        <a:rPr lang="en-IN" sz="1800" b="0" i="0" kern="1200" dirty="0">
                          <a:solidFill>
                            <a:schemeClr val="tx1"/>
                          </a:solidFill>
                          <a:effectLst/>
                          <a:latin typeface="Californian FB" panose="0207040306080B030204" pitchFamily="18" charset="0"/>
                          <a:ea typeface="+mn-ea"/>
                          <a:cs typeface="+mn-cs"/>
                        </a:rPr>
                        <a:t>,  other LLMs like GPT-3, BERT, </a:t>
                      </a:r>
                      <a:r>
                        <a:rPr lang="en-IN" sz="1800" b="0" i="0" kern="1200" dirty="0" err="1">
                          <a:solidFill>
                            <a:schemeClr val="tx1"/>
                          </a:solidFill>
                          <a:effectLst/>
                          <a:latin typeface="Californian FB" panose="0207040306080B030204" pitchFamily="18" charset="0"/>
                          <a:ea typeface="+mn-ea"/>
                          <a:cs typeface="+mn-cs"/>
                        </a:rPr>
                        <a:t>RoBERTa</a:t>
                      </a:r>
                      <a:r>
                        <a:rPr lang="en-IN" sz="1800" b="0" i="0" kern="1200" dirty="0">
                          <a:solidFill>
                            <a:schemeClr val="tx1"/>
                          </a:solidFill>
                          <a:effectLst/>
                          <a:latin typeface="Californian FB" panose="0207040306080B030204" pitchFamily="18" charset="0"/>
                          <a:ea typeface="+mn-ea"/>
                          <a:cs typeface="+mn-cs"/>
                        </a:rPr>
                        <a:t>, </a:t>
                      </a:r>
                      <a:r>
                        <a:rPr lang="en-IN" sz="1800" b="0" i="0" kern="1200" dirty="0" err="1">
                          <a:solidFill>
                            <a:schemeClr val="tx1"/>
                          </a:solidFill>
                          <a:effectLst/>
                          <a:latin typeface="Californian FB" panose="0207040306080B030204" pitchFamily="18" charset="0"/>
                          <a:ea typeface="+mn-ea"/>
                          <a:cs typeface="+mn-cs"/>
                        </a:rPr>
                        <a:t>PaLM</a:t>
                      </a:r>
                      <a:r>
                        <a:rPr lang="en-IN" sz="1800" b="0" i="0" kern="1200" dirty="0">
                          <a:solidFill>
                            <a:schemeClr val="tx1"/>
                          </a:solidFill>
                          <a:effectLst/>
                          <a:latin typeface="Californian FB" panose="0207040306080B030204" pitchFamily="18" charset="0"/>
                          <a:ea typeface="+mn-ea"/>
                          <a:cs typeface="+mn-cs"/>
                        </a:rPr>
                        <a:t>, Cohere, LaMDA, and Llama </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F1 score, Accuracy, Precision, Recall, AUC, C-index</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Data Privacy and Security, Bias and Fairness, Lack of Transparency.</a:t>
                      </a:r>
                    </a:p>
                  </a:txBody>
                  <a:tcPr/>
                </a:tc>
                <a:extLst>
                  <a:ext uri="{0D108BD9-81ED-4DB2-BD59-A6C34878D82A}">
                    <a16:rowId xmlns:a16="http://schemas.microsoft.com/office/drawing/2014/main" val="3014901865"/>
                  </a:ext>
                </a:extLst>
              </a:tr>
            </a:tbl>
          </a:graphicData>
        </a:graphic>
      </p:graphicFrame>
    </p:spTree>
    <p:extLst>
      <p:ext uri="{BB962C8B-B14F-4D97-AF65-F5344CB8AC3E}">
        <p14:creationId xmlns:p14="http://schemas.microsoft.com/office/powerpoint/2010/main" val="2030030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C811F-4DE8-4F61-1135-75578A97D6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576550B-8B00-2591-10E6-A01310BA3330}"/>
              </a:ext>
            </a:extLst>
          </p:cNvPr>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3">
              <a:alphaModFix amt="51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IN"/>
          </a:p>
        </p:txBody>
      </p:sp>
      <p:sp>
        <p:nvSpPr>
          <p:cNvPr id="3" name="Freeform 3">
            <a:extLst>
              <a:ext uri="{FF2B5EF4-FFF2-40B4-BE49-F238E27FC236}">
                <a16:creationId xmlns:a16="http://schemas.microsoft.com/office/drawing/2014/main" id="{7C11FF87-5523-4662-540D-736B14F5C538}"/>
              </a:ext>
            </a:extLst>
          </p:cNvPr>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3">
              <a:alphaModFix amt="51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IN"/>
          </a:p>
        </p:txBody>
      </p:sp>
      <p:sp>
        <p:nvSpPr>
          <p:cNvPr id="7" name="Freeform 7">
            <a:extLst>
              <a:ext uri="{FF2B5EF4-FFF2-40B4-BE49-F238E27FC236}">
                <a16:creationId xmlns:a16="http://schemas.microsoft.com/office/drawing/2014/main" id="{67AA7F22-B257-80CC-60F3-0C60846D1065}"/>
              </a:ext>
            </a:extLst>
          </p:cNvPr>
          <p:cNvSpPr/>
          <p:nvPr/>
        </p:nvSpPr>
        <p:spPr>
          <a:xfrm>
            <a:off x="681372" y="7639690"/>
            <a:ext cx="1082024" cy="993495"/>
          </a:xfrm>
          <a:custGeom>
            <a:avLst/>
            <a:gdLst/>
            <a:ahLst/>
            <a:cxnLst/>
            <a:rect l="l" t="t" r="r" b="b"/>
            <a:pathLst>
              <a:path w="1082024" h="993495">
                <a:moveTo>
                  <a:pt x="0" y="0"/>
                </a:moveTo>
                <a:lnTo>
                  <a:pt x="1082024" y="0"/>
                </a:lnTo>
                <a:lnTo>
                  <a:pt x="1082024" y="993494"/>
                </a:lnTo>
                <a:lnTo>
                  <a:pt x="0" y="993494"/>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8" name="Freeform 8">
            <a:extLst>
              <a:ext uri="{FF2B5EF4-FFF2-40B4-BE49-F238E27FC236}">
                <a16:creationId xmlns:a16="http://schemas.microsoft.com/office/drawing/2014/main" id="{E64EF298-96FA-07FA-AECE-79E71D6FE5F2}"/>
              </a:ext>
            </a:extLst>
          </p:cNvPr>
          <p:cNvSpPr/>
          <p:nvPr/>
        </p:nvSpPr>
        <p:spPr>
          <a:xfrm>
            <a:off x="1763396" y="8380061"/>
            <a:ext cx="721352" cy="662333"/>
          </a:xfrm>
          <a:custGeom>
            <a:avLst/>
            <a:gdLst/>
            <a:ahLst/>
            <a:cxnLst/>
            <a:rect l="l" t="t" r="r" b="b"/>
            <a:pathLst>
              <a:path w="721352" h="662333">
                <a:moveTo>
                  <a:pt x="0" y="0"/>
                </a:moveTo>
                <a:lnTo>
                  <a:pt x="721352" y="0"/>
                </a:lnTo>
                <a:lnTo>
                  <a:pt x="721352" y="662332"/>
                </a:lnTo>
                <a:lnTo>
                  <a:pt x="0" y="66233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9" name="Freeform 9">
            <a:extLst>
              <a:ext uri="{FF2B5EF4-FFF2-40B4-BE49-F238E27FC236}">
                <a16:creationId xmlns:a16="http://schemas.microsoft.com/office/drawing/2014/main" id="{7E935C47-65FF-9FDC-2E5B-72916CE9B296}"/>
              </a:ext>
            </a:extLst>
          </p:cNvPr>
          <p:cNvSpPr/>
          <p:nvPr/>
        </p:nvSpPr>
        <p:spPr>
          <a:xfrm>
            <a:off x="1103400" y="9133931"/>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10" name="Freeform 10">
            <a:extLst>
              <a:ext uri="{FF2B5EF4-FFF2-40B4-BE49-F238E27FC236}">
                <a16:creationId xmlns:a16="http://schemas.microsoft.com/office/drawing/2014/main" id="{48C6ABE4-4AEA-8F56-D2EB-95B24242BC6D}"/>
              </a:ext>
            </a:extLst>
          </p:cNvPr>
          <p:cNvSpPr/>
          <p:nvPr/>
        </p:nvSpPr>
        <p:spPr>
          <a:xfrm flipH="1">
            <a:off x="14961045" y="615014"/>
            <a:ext cx="2298255" cy="827372"/>
          </a:xfrm>
          <a:custGeom>
            <a:avLst/>
            <a:gdLst/>
            <a:ahLst/>
            <a:cxnLst/>
            <a:rect l="l" t="t" r="r" b="b"/>
            <a:pathLst>
              <a:path w="2298255" h="827372">
                <a:moveTo>
                  <a:pt x="2298255" y="0"/>
                </a:moveTo>
                <a:lnTo>
                  <a:pt x="0" y="0"/>
                </a:lnTo>
                <a:lnTo>
                  <a:pt x="0" y="827372"/>
                </a:lnTo>
                <a:lnTo>
                  <a:pt x="2298255" y="827372"/>
                </a:lnTo>
                <a:lnTo>
                  <a:pt x="2298255"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IN"/>
          </a:p>
        </p:txBody>
      </p:sp>
      <p:sp>
        <p:nvSpPr>
          <p:cNvPr id="13" name="TextBox 13">
            <a:extLst>
              <a:ext uri="{FF2B5EF4-FFF2-40B4-BE49-F238E27FC236}">
                <a16:creationId xmlns:a16="http://schemas.microsoft.com/office/drawing/2014/main" id="{8574ED49-5D02-4456-4DFB-66590F81E397}"/>
              </a:ext>
            </a:extLst>
          </p:cNvPr>
          <p:cNvSpPr txBox="1"/>
          <p:nvPr/>
        </p:nvSpPr>
        <p:spPr>
          <a:xfrm>
            <a:off x="3646967" y="722657"/>
            <a:ext cx="11232676" cy="724301"/>
          </a:xfrm>
          <a:prstGeom prst="rect">
            <a:avLst/>
          </a:prstGeom>
        </p:spPr>
        <p:txBody>
          <a:bodyPr lIns="0" tIns="0" rIns="0" bIns="0" rtlCol="0" anchor="t">
            <a:spAutoFit/>
          </a:bodyPr>
          <a:lstStyle/>
          <a:p>
            <a:pPr algn="ctr">
              <a:lnSpc>
                <a:spcPts val="6413"/>
              </a:lnSpc>
            </a:pPr>
            <a:r>
              <a:rPr lang="en-US" sz="5300" dirty="0">
                <a:solidFill>
                  <a:srgbClr val="0A8271"/>
                </a:solidFill>
                <a:latin typeface="Bernoru"/>
                <a:ea typeface="Bernoru"/>
                <a:cs typeface="Bernoru"/>
                <a:sym typeface="Bernoru"/>
              </a:rPr>
              <a:t>LITERATURE SURVEY</a:t>
            </a:r>
          </a:p>
        </p:txBody>
      </p:sp>
      <p:graphicFrame>
        <p:nvGraphicFramePr>
          <p:cNvPr id="15" name="Table 14">
            <a:extLst>
              <a:ext uri="{FF2B5EF4-FFF2-40B4-BE49-F238E27FC236}">
                <a16:creationId xmlns:a16="http://schemas.microsoft.com/office/drawing/2014/main" id="{67928AB1-D1B5-C3BC-DF31-D1F8F119D9A7}"/>
              </a:ext>
            </a:extLst>
          </p:cNvPr>
          <p:cNvGraphicFramePr>
            <a:graphicFrameLocks noGrp="1"/>
          </p:cNvGraphicFramePr>
          <p:nvPr>
            <p:extLst>
              <p:ext uri="{D42A27DB-BD31-4B8C-83A1-F6EECF244321}">
                <p14:modId xmlns:p14="http://schemas.microsoft.com/office/powerpoint/2010/main" val="2496164213"/>
              </p:ext>
            </p:extLst>
          </p:nvPr>
        </p:nvGraphicFramePr>
        <p:xfrm>
          <a:off x="2219811" y="1714501"/>
          <a:ext cx="14086989" cy="8572499"/>
        </p:xfrm>
        <a:graphic>
          <a:graphicData uri="http://schemas.openxmlformats.org/drawingml/2006/table">
            <a:tbl>
              <a:tblPr firstRow="1" bandRow="1">
                <a:tableStyleId>{BDBED569-4797-4DF1-A0F4-6AAB3CD982D8}</a:tableStyleId>
              </a:tblPr>
              <a:tblGrid>
                <a:gridCol w="2595142">
                  <a:extLst>
                    <a:ext uri="{9D8B030D-6E8A-4147-A177-3AD203B41FA5}">
                      <a16:colId xmlns:a16="http://schemas.microsoft.com/office/drawing/2014/main" val="1114153299"/>
                    </a:ext>
                  </a:extLst>
                </a:gridCol>
                <a:gridCol w="2247373">
                  <a:extLst>
                    <a:ext uri="{9D8B030D-6E8A-4147-A177-3AD203B41FA5}">
                      <a16:colId xmlns:a16="http://schemas.microsoft.com/office/drawing/2014/main" val="3463030923"/>
                    </a:ext>
                  </a:extLst>
                </a:gridCol>
                <a:gridCol w="2427163">
                  <a:extLst>
                    <a:ext uri="{9D8B030D-6E8A-4147-A177-3AD203B41FA5}">
                      <a16:colId xmlns:a16="http://schemas.microsoft.com/office/drawing/2014/main" val="3402333370"/>
                    </a:ext>
                  </a:extLst>
                </a:gridCol>
                <a:gridCol w="2337268">
                  <a:extLst>
                    <a:ext uri="{9D8B030D-6E8A-4147-A177-3AD203B41FA5}">
                      <a16:colId xmlns:a16="http://schemas.microsoft.com/office/drawing/2014/main" val="2440352369"/>
                    </a:ext>
                  </a:extLst>
                </a:gridCol>
                <a:gridCol w="2067583">
                  <a:extLst>
                    <a:ext uri="{9D8B030D-6E8A-4147-A177-3AD203B41FA5}">
                      <a16:colId xmlns:a16="http://schemas.microsoft.com/office/drawing/2014/main" val="4161939234"/>
                    </a:ext>
                  </a:extLst>
                </a:gridCol>
                <a:gridCol w="2412460">
                  <a:extLst>
                    <a:ext uri="{9D8B030D-6E8A-4147-A177-3AD203B41FA5}">
                      <a16:colId xmlns:a16="http://schemas.microsoft.com/office/drawing/2014/main" val="712059927"/>
                    </a:ext>
                  </a:extLst>
                </a:gridCol>
              </a:tblGrid>
              <a:tr h="693023">
                <a:tc>
                  <a:txBody>
                    <a:bodyPr/>
                    <a:lstStyle/>
                    <a:p>
                      <a:pPr algn="ctr"/>
                      <a:r>
                        <a:rPr lang="en-IN" sz="2400" dirty="0">
                          <a:solidFill>
                            <a:schemeClr val="tx1"/>
                          </a:solidFill>
                          <a:latin typeface="Magnolia Script" panose="020B0604020202020204" charset="0"/>
                        </a:rPr>
                        <a:t>Title</a:t>
                      </a:r>
                    </a:p>
                  </a:txBody>
                  <a:tcPr/>
                </a:tc>
                <a:tc>
                  <a:txBody>
                    <a:bodyPr/>
                    <a:lstStyle/>
                    <a:p>
                      <a:pPr algn="ctr"/>
                      <a:r>
                        <a:rPr lang="en-IN" sz="2400" dirty="0">
                          <a:solidFill>
                            <a:schemeClr val="tx1"/>
                          </a:solidFill>
                          <a:latin typeface="Magnolia Script" panose="020B0604020202020204" charset="0"/>
                        </a:rPr>
                        <a:t>Author name</a:t>
                      </a:r>
                    </a:p>
                  </a:txBody>
                  <a:tcPr/>
                </a:tc>
                <a:tc>
                  <a:txBody>
                    <a:bodyPr/>
                    <a:lstStyle/>
                    <a:p>
                      <a:pPr algn="ctr"/>
                      <a:r>
                        <a:rPr lang="en-IN" sz="2400" dirty="0">
                          <a:solidFill>
                            <a:schemeClr val="tx1"/>
                          </a:solidFill>
                          <a:latin typeface="Magnolia Script" panose="020B0604020202020204" charset="0"/>
                        </a:rPr>
                        <a:t>Dataset Used</a:t>
                      </a:r>
                    </a:p>
                  </a:txBody>
                  <a:tcPr/>
                </a:tc>
                <a:tc>
                  <a:txBody>
                    <a:bodyPr/>
                    <a:lstStyle/>
                    <a:p>
                      <a:pPr algn="ctr"/>
                      <a:r>
                        <a:rPr lang="en-IN" sz="2400" dirty="0">
                          <a:solidFill>
                            <a:schemeClr val="tx1"/>
                          </a:solidFill>
                          <a:latin typeface="Magnolia Script" panose="020B0604020202020204" charset="0"/>
                        </a:rPr>
                        <a:t>Model used</a:t>
                      </a:r>
                    </a:p>
                  </a:txBody>
                  <a:tcPr/>
                </a:tc>
                <a:tc>
                  <a:txBody>
                    <a:bodyPr/>
                    <a:lstStyle/>
                    <a:p>
                      <a:pPr algn="ctr"/>
                      <a:r>
                        <a:rPr lang="en-IN" sz="2400" dirty="0">
                          <a:solidFill>
                            <a:schemeClr val="tx1"/>
                          </a:solidFill>
                          <a:latin typeface="Magnolia Script" panose="020B0604020202020204" charset="0"/>
                        </a:rPr>
                        <a:t>Metrics</a:t>
                      </a:r>
                    </a:p>
                  </a:txBody>
                  <a:tcPr/>
                </a:tc>
                <a:tc>
                  <a:txBody>
                    <a:bodyPr/>
                    <a:lstStyle/>
                    <a:p>
                      <a:pPr algn="ctr"/>
                      <a:r>
                        <a:rPr lang="en-IN" sz="2400" dirty="0">
                          <a:solidFill>
                            <a:schemeClr val="tx1"/>
                          </a:solidFill>
                          <a:latin typeface="Magnolia Script" panose="020B0604020202020204" charset="0"/>
                        </a:rPr>
                        <a:t>Limitations</a:t>
                      </a:r>
                    </a:p>
                  </a:txBody>
                  <a:tcPr/>
                </a:tc>
                <a:extLst>
                  <a:ext uri="{0D108BD9-81ED-4DB2-BD59-A6C34878D82A}">
                    <a16:rowId xmlns:a16="http://schemas.microsoft.com/office/drawing/2014/main" val="3483796142"/>
                  </a:ext>
                </a:extLst>
              </a:tr>
              <a:tr h="3470722">
                <a:tc>
                  <a:txBody>
                    <a:bodyPr/>
                    <a:lstStyle/>
                    <a:p>
                      <a:r>
                        <a:rPr lang="en-US" sz="1800" b="0" i="0" kern="1200" dirty="0" err="1">
                          <a:solidFill>
                            <a:schemeClr val="tx1"/>
                          </a:solidFill>
                          <a:effectLst/>
                          <a:latin typeface="Californian FB" panose="0207040306080B030204" pitchFamily="18" charset="0"/>
                          <a:ea typeface="+mn-ea"/>
                          <a:cs typeface="+mn-cs"/>
                        </a:rPr>
                        <a:t>Orphanet</a:t>
                      </a:r>
                      <a:r>
                        <a:rPr lang="en-US" sz="1800" b="0" i="0" kern="1200" dirty="0">
                          <a:solidFill>
                            <a:schemeClr val="tx1"/>
                          </a:solidFill>
                          <a:effectLst/>
                          <a:latin typeface="Californian FB" panose="0207040306080B030204" pitchFamily="18" charset="0"/>
                          <a:ea typeface="+mn-ea"/>
                          <a:cs typeface="+mn-cs"/>
                        </a:rPr>
                        <a:t> – Information, Education And Expert </a:t>
                      </a:r>
                      <a:r>
                        <a:rPr lang="en-US" sz="1800" b="0" i="0" kern="1200" dirty="0" err="1">
                          <a:solidFill>
                            <a:schemeClr val="tx1"/>
                          </a:solidFill>
                          <a:effectLst/>
                          <a:latin typeface="Californian FB" panose="0207040306080B030204" pitchFamily="18" charset="0"/>
                          <a:ea typeface="+mn-ea"/>
                          <a:cs typeface="+mn-cs"/>
                        </a:rPr>
                        <a:t>Centres</a:t>
                      </a:r>
                      <a:r>
                        <a:rPr lang="en-US" sz="1800" b="0" i="0" kern="1200" dirty="0">
                          <a:solidFill>
                            <a:schemeClr val="tx1"/>
                          </a:solidFill>
                          <a:effectLst/>
                          <a:latin typeface="Californian FB" panose="0207040306080B030204" pitchFamily="18" charset="0"/>
                          <a:ea typeface="+mn-ea"/>
                          <a:cs typeface="+mn-cs"/>
                        </a:rPr>
                        <a:t> For Rare Diseases</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Kovács L., Hegyi E., and Nagyová G. </a:t>
                      </a:r>
                      <a:br>
                        <a:rPr lang="en-IN" sz="1800" b="1" i="0" kern="1200" dirty="0">
                          <a:solidFill>
                            <a:schemeClr val="tx1"/>
                          </a:solidFill>
                          <a:effectLst/>
                          <a:latin typeface="Californian FB" panose="0207040306080B030204" pitchFamily="18" charset="0"/>
                          <a:ea typeface="+mn-ea"/>
                          <a:cs typeface="+mn-cs"/>
                        </a:rPr>
                      </a:b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Activity Of The Expert Centre For Rare Diseases (Rd)</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 </a:t>
                      </a:r>
                      <a:r>
                        <a:rPr lang="en-IN" sz="1800" b="0" i="0" kern="1200" dirty="0">
                          <a:solidFill>
                            <a:schemeClr val="tx1"/>
                          </a:solidFill>
                          <a:effectLst/>
                          <a:latin typeface="Californian FB" panose="0207040306080B030204" pitchFamily="18" charset="0"/>
                          <a:ea typeface="+mn-ea"/>
                          <a:cs typeface="+mn-cs"/>
                        </a:rPr>
                        <a:t>EUCERD</a:t>
                      </a:r>
                      <a:endParaRPr lang="en-IN" b="0" dirty="0">
                        <a:latin typeface="Californian FB" panose="0207040306080B030204" pitchFamily="18" charset="0"/>
                      </a:endParaRPr>
                    </a:p>
                  </a:txBody>
                  <a:tcPr/>
                </a:tc>
                <a:tc>
                  <a:txBody>
                    <a:bodyPr/>
                    <a:lstStyle/>
                    <a:p>
                      <a:r>
                        <a:rPr lang="en-IN" sz="1800" b="1" i="0" kern="1200" dirty="0">
                          <a:solidFill>
                            <a:schemeClr val="tx1"/>
                          </a:solidFill>
                          <a:effectLst/>
                          <a:latin typeface="Californian FB" panose="0207040306080B030204" pitchFamily="18" charset="0"/>
                          <a:ea typeface="+mn-ea"/>
                          <a:cs typeface="+mn-cs"/>
                        </a:rPr>
                        <a:t>Patient Numbers, Expert Advice Provision, Peer-Reviewed Publication.</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t the specific quantitative criteria for what constitutes an 'expert enough' center are not universally defined in the paper but rather left to national discretion, which could lead to variability in standards across different countries.</a:t>
                      </a:r>
                      <a:endParaRPr lang="en-IN" b="0" dirty="0">
                        <a:latin typeface="Californian FB" panose="0207040306080B030204" pitchFamily="18" charset="0"/>
                      </a:endParaRPr>
                    </a:p>
                  </a:txBody>
                  <a:tcPr/>
                </a:tc>
                <a:extLst>
                  <a:ext uri="{0D108BD9-81ED-4DB2-BD59-A6C34878D82A}">
                    <a16:rowId xmlns:a16="http://schemas.microsoft.com/office/drawing/2014/main" val="3320052280"/>
                  </a:ext>
                </a:extLst>
              </a:tr>
              <a:tr h="2345082">
                <a:tc>
                  <a:txBody>
                    <a:bodyPr/>
                    <a:lstStyle/>
                    <a:p>
                      <a:r>
                        <a:rPr lang="en-US" sz="1800" b="0" i="0" kern="1200" dirty="0">
                          <a:solidFill>
                            <a:schemeClr val="tx1"/>
                          </a:solidFill>
                          <a:effectLst/>
                          <a:latin typeface="Californian FB" panose="0207040306080B030204" pitchFamily="18" charset="0"/>
                          <a:ea typeface="+mn-ea"/>
                          <a:cs typeface="+mn-cs"/>
                        </a:rPr>
                        <a:t>Development and implementation of effective Web Scraping methods for automated data collection and processing using Python</a:t>
                      </a:r>
                      <a:endParaRPr lang="en-IN" dirty="0">
                        <a:latin typeface="Californian FB" panose="0207040306080B030204" pitchFamily="18" charset="0"/>
                      </a:endParaRPr>
                    </a:p>
                  </a:txBody>
                  <a:tcPr/>
                </a:tc>
                <a:tc>
                  <a:txBody>
                    <a:bodyPr/>
                    <a:lstStyle/>
                    <a:p>
                      <a:r>
                        <a:rPr lang="sv-SE" sz="1800" b="0" i="0" kern="1200" dirty="0">
                          <a:solidFill>
                            <a:schemeClr val="tx1"/>
                          </a:solidFill>
                          <a:effectLst/>
                          <a:latin typeface="Californian FB" panose="0207040306080B030204" pitchFamily="18" charset="0"/>
                          <a:ea typeface="+mn-ea"/>
                          <a:cs typeface="+mn-cs"/>
                        </a:rPr>
                        <a:t> Ruslan K. Sichkariuk, N.V. Kornilovska, Iryna Lurie, and Maria Voronenko</a:t>
                      </a:r>
                      <a:br>
                        <a:rPr lang="en-IN" sz="1800" b="1" i="0" kern="1200" dirty="0">
                          <a:solidFill>
                            <a:schemeClr val="tx1"/>
                          </a:solidFill>
                          <a:effectLst/>
                          <a:latin typeface="Californian FB" panose="0207040306080B030204" pitchFamily="18" charset="0"/>
                          <a:ea typeface="+mn-ea"/>
                          <a:cs typeface="+mn-cs"/>
                        </a:rPr>
                      </a:br>
                      <a:endParaRPr lang="en-IN"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'examples of real-world data use cases in various fields such as marketing, economics, and business analysis</a:t>
                      </a:r>
                      <a:endParaRPr lang="en-IN" dirty="0">
                        <a:latin typeface="Californian FB" panose="0207040306080B030204" pitchFamily="18" charset="0"/>
                      </a:endParaRPr>
                    </a:p>
                  </a:txBody>
                  <a:tcPr/>
                </a:tc>
                <a:tc>
                  <a:txBody>
                    <a:bodyPr/>
                    <a:lstStyle/>
                    <a:p>
                      <a:r>
                        <a:rPr lang="en-US" sz="1800" b="0" i="0" kern="1200" dirty="0" err="1">
                          <a:solidFill>
                            <a:schemeClr val="tx1"/>
                          </a:solidFill>
                          <a:effectLst/>
                          <a:latin typeface="Californian FB" panose="0207040306080B030204" pitchFamily="18" charset="0"/>
                          <a:ea typeface="+mn-ea"/>
                          <a:cs typeface="+mn-cs"/>
                        </a:rPr>
                        <a:t>BeautifulSoup</a:t>
                      </a:r>
                      <a:r>
                        <a:rPr lang="en-US" sz="1800" b="0" i="0" kern="1200" dirty="0">
                          <a:solidFill>
                            <a:schemeClr val="tx1"/>
                          </a:solidFill>
                          <a:effectLst/>
                          <a:latin typeface="Californian FB" panose="0207040306080B030204" pitchFamily="18" charset="0"/>
                          <a:ea typeface="+mn-ea"/>
                          <a:cs typeface="+mn-cs"/>
                        </a:rPr>
                        <a:t>, Selenium, and Scrapy for data collection and processing</a:t>
                      </a:r>
                      <a:endParaRPr lang="en-IN"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Practical aspects of data collection, processing, and automation.</a:t>
                      </a:r>
                      <a:endParaRPr lang="en-IN"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The risk of site blocking, and proposes algorithms to mitigate this, suggesting that managing site blocking is a continuous challenge in web scraping</a:t>
                      </a:r>
                      <a:endParaRPr lang="en-IN" dirty="0">
                        <a:latin typeface="Californian FB" panose="0207040306080B030204" pitchFamily="18" charset="0"/>
                      </a:endParaRPr>
                    </a:p>
                  </a:txBody>
                  <a:tcPr/>
                </a:tc>
                <a:extLst>
                  <a:ext uri="{0D108BD9-81ED-4DB2-BD59-A6C34878D82A}">
                    <a16:rowId xmlns:a16="http://schemas.microsoft.com/office/drawing/2014/main" val="743510879"/>
                  </a:ext>
                </a:extLst>
              </a:tr>
              <a:tr h="2063672">
                <a:tc>
                  <a:txBody>
                    <a:bodyPr/>
                    <a:lstStyle/>
                    <a:p>
                      <a:r>
                        <a:rPr lang="en-US" sz="1800" b="0" i="0" kern="1200" dirty="0">
                          <a:solidFill>
                            <a:schemeClr val="tx1"/>
                          </a:solidFill>
                          <a:effectLst/>
                          <a:latin typeface="Californian FB" panose="0207040306080B030204" pitchFamily="18" charset="0"/>
                          <a:ea typeface="+mn-ea"/>
                          <a:cs typeface="+mn-cs"/>
                        </a:rPr>
                        <a:t>Web Scraping for Data Analytics: A </a:t>
                      </a:r>
                      <a:r>
                        <a:rPr lang="en-US" sz="1800" b="0" i="0" kern="1200" dirty="0" err="1">
                          <a:solidFill>
                            <a:schemeClr val="tx1"/>
                          </a:solidFill>
                          <a:effectLst/>
                          <a:latin typeface="Californian FB" panose="0207040306080B030204" pitchFamily="18" charset="0"/>
                          <a:ea typeface="+mn-ea"/>
                          <a:cs typeface="+mn-cs"/>
                        </a:rPr>
                        <a:t>BeautifulSoup</a:t>
                      </a:r>
                      <a:r>
                        <a:rPr lang="en-US" sz="1800" b="0" i="0" kern="1200" dirty="0">
                          <a:solidFill>
                            <a:schemeClr val="tx1"/>
                          </a:solidFill>
                          <a:effectLst/>
                          <a:latin typeface="Californian FB" panose="0207040306080B030204" pitchFamily="18" charset="0"/>
                          <a:ea typeface="+mn-ea"/>
                          <a:cs typeface="+mn-cs"/>
                        </a:rPr>
                        <a:t> Implementation</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Rabia Latif</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 Amazon website to collect data, specifically a product's name, price, number of reviews, rate, and link</a:t>
                      </a:r>
                      <a:endParaRPr lang="en-IN" b="0" dirty="0">
                        <a:latin typeface="Californian FB" panose="0207040306080B030204" pitchFamily="18" charset="0"/>
                      </a:endParaRPr>
                    </a:p>
                  </a:txBody>
                  <a:tcPr/>
                </a:tc>
                <a:tc>
                  <a:txBody>
                    <a:bodyPr/>
                    <a:lstStyle/>
                    <a:p>
                      <a:r>
                        <a:rPr lang="en-IN" sz="1800" b="0" i="0" kern="1200" dirty="0">
                          <a:solidFill>
                            <a:schemeClr val="tx1"/>
                          </a:solidFill>
                          <a:effectLst/>
                          <a:latin typeface="Californian FB" panose="0207040306080B030204" pitchFamily="18" charset="0"/>
                          <a:ea typeface="+mn-ea"/>
                          <a:cs typeface="+mn-cs"/>
                        </a:rPr>
                        <a:t>Python's </a:t>
                      </a:r>
                      <a:r>
                        <a:rPr lang="en-IN" sz="1800" b="0" i="0" kern="1200" dirty="0" err="1">
                          <a:solidFill>
                            <a:schemeClr val="tx1"/>
                          </a:solidFill>
                          <a:effectLst/>
                          <a:latin typeface="Californian FB" panose="0207040306080B030204" pitchFamily="18" charset="0"/>
                          <a:ea typeface="+mn-ea"/>
                          <a:cs typeface="+mn-cs"/>
                        </a:rPr>
                        <a:t>BeautifulSoup</a:t>
                      </a:r>
                      <a:r>
                        <a:rPr lang="en-IN" sz="1800" b="0" i="0" kern="1200" dirty="0">
                          <a:solidFill>
                            <a:schemeClr val="tx1"/>
                          </a:solidFill>
                          <a:effectLst/>
                          <a:latin typeface="Californian FB" panose="0207040306080B030204" pitchFamily="18" charset="0"/>
                          <a:ea typeface="+mn-ea"/>
                          <a:cs typeface="+mn-cs"/>
                        </a:rPr>
                        <a:t> library</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speed of execution serves as a key performance metric.</a:t>
                      </a:r>
                      <a:endParaRPr lang="en-IN" b="0" dirty="0">
                        <a:latin typeface="Californian FB" panose="0207040306080B030204" pitchFamily="18" charset="0"/>
                      </a:endParaRPr>
                    </a:p>
                  </a:txBody>
                  <a:tcPr/>
                </a:tc>
                <a:tc>
                  <a:txBody>
                    <a:bodyPr/>
                    <a:lstStyle/>
                    <a:p>
                      <a:r>
                        <a:rPr lang="en-US" sz="1800" b="0" i="0" kern="1200" dirty="0">
                          <a:solidFill>
                            <a:schemeClr val="tx1"/>
                          </a:solidFill>
                          <a:effectLst/>
                          <a:latin typeface="Californian FB" panose="0207040306080B030204" pitchFamily="18" charset="0"/>
                          <a:ea typeface="+mn-ea"/>
                          <a:cs typeface="+mn-cs"/>
                        </a:rPr>
                        <a:t>Applying it to specific product names rather than generic ones.</a:t>
                      </a:r>
                    </a:p>
                    <a:p>
                      <a:r>
                        <a:rPr lang="en-US" sz="1800" b="0" i="0" kern="1200" dirty="0">
                          <a:solidFill>
                            <a:schemeClr val="tx1"/>
                          </a:solidFill>
                          <a:effectLst/>
                          <a:latin typeface="Californian FB" panose="0207040306080B030204" pitchFamily="18" charset="0"/>
                          <a:ea typeface="+mn-ea"/>
                          <a:cs typeface="+mn-cs"/>
                        </a:rPr>
                        <a:t>Extracting only specific information desired from the resulting products.</a:t>
                      </a:r>
                    </a:p>
                  </a:txBody>
                  <a:tcPr/>
                </a:tc>
                <a:extLst>
                  <a:ext uri="{0D108BD9-81ED-4DB2-BD59-A6C34878D82A}">
                    <a16:rowId xmlns:a16="http://schemas.microsoft.com/office/drawing/2014/main" val="3014901865"/>
                  </a:ext>
                </a:extLst>
              </a:tr>
            </a:tbl>
          </a:graphicData>
        </a:graphic>
      </p:graphicFrame>
    </p:spTree>
    <p:extLst>
      <p:ext uri="{BB962C8B-B14F-4D97-AF65-F5344CB8AC3E}">
        <p14:creationId xmlns:p14="http://schemas.microsoft.com/office/powerpoint/2010/main" val="3075892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B5538-BDFA-75E1-D35B-D8638239B14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748DE6-9252-A1EB-320D-C7E007F1E3E2}"/>
              </a:ext>
            </a:extLst>
          </p:cNvPr>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a:extLst>
              <a:ext uri="{FF2B5EF4-FFF2-40B4-BE49-F238E27FC236}">
                <a16:creationId xmlns:a16="http://schemas.microsoft.com/office/drawing/2014/main" id="{1B9C099A-7930-F3BF-D606-C2419332BB4E}"/>
              </a:ext>
            </a:extLst>
          </p:cNvPr>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4" name="Group 4">
            <a:extLst>
              <a:ext uri="{FF2B5EF4-FFF2-40B4-BE49-F238E27FC236}">
                <a16:creationId xmlns:a16="http://schemas.microsoft.com/office/drawing/2014/main" id="{1DF3FD9D-9D70-04C4-19BE-691E9A08C218}"/>
              </a:ext>
            </a:extLst>
          </p:cNvPr>
          <p:cNvGrpSpPr/>
          <p:nvPr/>
        </p:nvGrpSpPr>
        <p:grpSpPr>
          <a:xfrm>
            <a:off x="3527662" y="3603627"/>
            <a:ext cx="11232676" cy="4532810"/>
            <a:chOff x="0" y="0"/>
            <a:chExt cx="3525086" cy="1422505"/>
          </a:xfrm>
        </p:grpSpPr>
        <p:sp>
          <p:nvSpPr>
            <p:cNvPr id="5" name="Freeform 5">
              <a:extLst>
                <a:ext uri="{FF2B5EF4-FFF2-40B4-BE49-F238E27FC236}">
                  <a16:creationId xmlns:a16="http://schemas.microsoft.com/office/drawing/2014/main" id="{57F96F82-45AC-E453-7EFD-48C7FC5B05C6}"/>
                </a:ext>
              </a:extLst>
            </p:cNvPr>
            <p:cNvSpPr/>
            <p:nvPr/>
          </p:nvSpPr>
          <p:spPr>
            <a:xfrm>
              <a:off x="0" y="0"/>
              <a:ext cx="3525086" cy="1422505"/>
            </a:xfrm>
            <a:custGeom>
              <a:avLst/>
              <a:gdLst/>
              <a:ahLst/>
              <a:cxnLst/>
              <a:rect l="l" t="t" r="r" b="b"/>
              <a:pathLst>
                <a:path w="3525086" h="1422505">
                  <a:moveTo>
                    <a:pt x="35151" y="0"/>
                  </a:moveTo>
                  <a:lnTo>
                    <a:pt x="3489935" y="0"/>
                  </a:lnTo>
                  <a:cubicBezTo>
                    <a:pt x="3499257" y="0"/>
                    <a:pt x="3508198" y="3703"/>
                    <a:pt x="3514790" y="10295"/>
                  </a:cubicBezTo>
                  <a:cubicBezTo>
                    <a:pt x="3521382" y="16888"/>
                    <a:pt x="3525086" y="25828"/>
                    <a:pt x="3525086" y="35151"/>
                  </a:cubicBezTo>
                  <a:lnTo>
                    <a:pt x="3525086" y="1387354"/>
                  </a:lnTo>
                  <a:cubicBezTo>
                    <a:pt x="3525086" y="1406768"/>
                    <a:pt x="3509348" y="1422505"/>
                    <a:pt x="3489935" y="1422505"/>
                  </a:cubicBezTo>
                  <a:lnTo>
                    <a:pt x="35151" y="1422505"/>
                  </a:lnTo>
                  <a:cubicBezTo>
                    <a:pt x="25828" y="1422505"/>
                    <a:pt x="16888" y="1418802"/>
                    <a:pt x="10295" y="1412210"/>
                  </a:cubicBezTo>
                  <a:cubicBezTo>
                    <a:pt x="3703" y="1405618"/>
                    <a:pt x="0" y="1396677"/>
                    <a:pt x="0" y="1387354"/>
                  </a:cubicBezTo>
                  <a:lnTo>
                    <a:pt x="0" y="35151"/>
                  </a:lnTo>
                  <a:cubicBezTo>
                    <a:pt x="0" y="25828"/>
                    <a:pt x="3703" y="16888"/>
                    <a:pt x="10295" y="10295"/>
                  </a:cubicBezTo>
                  <a:cubicBezTo>
                    <a:pt x="16888" y="3703"/>
                    <a:pt x="25828" y="0"/>
                    <a:pt x="35151" y="0"/>
                  </a:cubicBezTo>
                  <a:close/>
                </a:path>
              </a:pathLst>
            </a:custGeom>
            <a:solidFill>
              <a:srgbClr val="5EB2BA"/>
            </a:solidFill>
          </p:spPr>
          <p:txBody>
            <a:bodyPr/>
            <a:lstStyle/>
            <a:p>
              <a:endParaRPr lang="en-IN"/>
            </a:p>
          </p:txBody>
        </p:sp>
        <p:sp>
          <p:nvSpPr>
            <p:cNvPr id="6" name="TextBox 6">
              <a:extLst>
                <a:ext uri="{FF2B5EF4-FFF2-40B4-BE49-F238E27FC236}">
                  <a16:creationId xmlns:a16="http://schemas.microsoft.com/office/drawing/2014/main" id="{2DEF4C52-F5FF-0E3B-C8C1-3B5822C3B9E5}"/>
                </a:ext>
              </a:extLst>
            </p:cNvPr>
            <p:cNvSpPr txBox="1"/>
            <p:nvPr/>
          </p:nvSpPr>
          <p:spPr>
            <a:xfrm>
              <a:off x="0" y="-28575"/>
              <a:ext cx="3525086" cy="145108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C7F88452-0470-9CE4-96DB-EB7F2399AC3E}"/>
              </a:ext>
            </a:extLst>
          </p:cNvPr>
          <p:cNvSpPr/>
          <p:nvPr/>
        </p:nvSpPr>
        <p:spPr>
          <a:xfrm>
            <a:off x="681372" y="7639690"/>
            <a:ext cx="1082024" cy="993495"/>
          </a:xfrm>
          <a:custGeom>
            <a:avLst/>
            <a:gdLst/>
            <a:ahLst/>
            <a:cxnLst/>
            <a:rect l="l" t="t" r="r" b="b"/>
            <a:pathLst>
              <a:path w="1082024" h="993495">
                <a:moveTo>
                  <a:pt x="0" y="0"/>
                </a:moveTo>
                <a:lnTo>
                  <a:pt x="1082024" y="0"/>
                </a:lnTo>
                <a:lnTo>
                  <a:pt x="1082024" y="993494"/>
                </a:lnTo>
                <a:lnTo>
                  <a:pt x="0" y="99349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8" name="Freeform 8">
            <a:extLst>
              <a:ext uri="{FF2B5EF4-FFF2-40B4-BE49-F238E27FC236}">
                <a16:creationId xmlns:a16="http://schemas.microsoft.com/office/drawing/2014/main" id="{3964985E-8DBD-9888-562C-C5F9BD7E835E}"/>
              </a:ext>
            </a:extLst>
          </p:cNvPr>
          <p:cNvSpPr/>
          <p:nvPr/>
        </p:nvSpPr>
        <p:spPr>
          <a:xfrm>
            <a:off x="1763396" y="8380061"/>
            <a:ext cx="721352" cy="662333"/>
          </a:xfrm>
          <a:custGeom>
            <a:avLst/>
            <a:gdLst/>
            <a:ahLst/>
            <a:cxnLst/>
            <a:rect l="l" t="t" r="r" b="b"/>
            <a:pathLst>
              <a:path w="721352" h="662333">
                <a:moveTo>
                  <a:pt x="0" y="0"/>
                </a:moveTo>
                <a:lnTo>
                  <a:pt x="721352" y="0"/>
                </a:lnTo>
                <a:lnTo>
                  <a:pt x="721352" y="662332"/>
                </a:lnTo>
                <a:lnTo>
                  <a:pt x="0" y="66233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9" name="Freeform 9">
            <a:extLst>
              <a:ext uri="{FF2B5EF4-FFF2-40B4-BE49-F238E27FC236}">
                <a16:creationId xmlns:a16="http://schemas.microsoft.com/office/drawing/2014/main" id="{CB3A1E9D-D9FC-6BB4-699A-5C9DFB20DAC6}"/>
              </a:ext>
            </a:extLst>
          </p:cNvPr>
          <p:cNvSpPr/>
          <p:nvPr/>
        </p:nvSpPr>
        <p:spPr>
          <a:xfrm>
            <a:off x="1103400" y="9133931"/>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10" name="Freeform 10">
            <a:extLst>
              <a:ext uri="{FF2B5EF4-FFF2-40B4-BE49-F238E27FC236}">
                <a16:creationId xmlns:a16="http://schemas.microsoft.com/office/drawing/2014/main" id="{045E58B0-FAF0-D4EC-98F9-7D2778015E12}"/>
              </a:ext>
            </a:extLst>
          </p:cNvPr>
          <p:cNvSpPr/>
          <p:nvPr/>
        </p:nvSpPr>
        <p:spPr>
          <a:xfrm flipH="1">
            <a:off x="14961045" y="615014"/>
            <a:ext cx="2298255" cy="827372"/>
          </a:xfrm>
          <a:custGeom>
            <a:avLst/>
            <a:gdLst/>
            <a:ahLst/>
            <a:cxnLst/>
            <a:rect l="l" t="t" r="r" b="b"/>
            <a:pathLst>
              <a:path w="2298255" h="827372">
                <a:moveTo>
                  <a:pt x="2298255" y="0"/>
                </a:moveTo>
                <a:lnTo>
                  <a:pt x="0" y="0"/>
                </a:lnTo>
                <a:lnTo>
                  <a:pt x="0" y="827372"/>
                </a:lnTo>
                <a:lnTo>
                  <a:pt x="2298255" y="827372"/>
                </a:lnTo>
                <a:lnTo>
                  <a:pt x="2298255"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pic>
        <p:nvPicPr>
          <p:cNvPr id="11" name="Picture 11">
            <a:extLst>
              <a:ext uri="{FF2B5EF4-FFF2-40B4-BE49-F238E27FC236}">
                <a16:creationId xmlns:a16="http://schemas.microsoft.com/office/drawing/2014/main" id="{B415D744-19CD-A370-5DE5-D4302A2E77B0}"/>
              </a:ext>
            </a:extLst>
          </p:cNvPr>
          <p:cNvPicPr>
            <a:picLocks noChangeAspect="1"/>
          </p:cNvPicPr>
          <p:nvPr/>
        </p:nvPicPr>
        <p:blipFill>
          <a:blip r:embed="rId8"/>
          <a:srcRect l="98" r="98"/>
          <a:stretch>
            <a:fillRect/>
          </a:stretch>
        </p:blipFill>
        <p:spPr>
          <a:xfrm>
            <a:off x="1487308" y="1442386"/>
            <a:ext cx="3073210" cy="3073210"/>
          </a:xfrm>
          <a:prstGeom prst="rect">
            <a:avLst/>
          </a:prstGeom>
        </p:spPr>
      </p:pic>
      <p:pic>
        <p:nvPicPr>
          <p:cNvPr id="12" name="Picture 12">
            <a:extLst>
              <a:ext uri="{FF2B5EF4-FFF2-40B4-BE49-F238E27FC236}">
                <a16:creationId xmlns:a16="http://schemas.microsoft.com/office/drawing/2014/main" id="{F1B9C17F-DDEA-2A2E-BA69-9106F2775521}"/>
              </a:ext>
            </a:extLst>
          </p:cNvPr>
          <p:cNvPicPr>
            <a:picLocks noChangeAspect="1"/>
          </p:cNvPicPr>
          <p:nvPr/>
        </p:nvPicPr>
        <p:blipFill>
          <a:blip r:embed="rId8"/>
          <a:srcRect l="98" r="98"/>
          <a:stretch>
            <a:fillRect/>
          </a:stretch>
        </p:blipFill>
        <p:spPr>
          <a:xfrm>
            <a:off x="13579482" y="7123187"/>
            <a:ext cx="2738880" cy="2738880"/>
          </a:xfrm>
          <a:prstGeom prst="rect">
            <a:avLst/>
          </a:prstGeom>
        </p:spPr>
      </p:pic>
      <p:sp>
        <p:nvSpPr>
          <p:cNvPr id="13" name="TextBox 13">
            <a:extLst>
              <a:ext uri="{FF2B5EF4-FFF2-40B4-BE49-F238E27FC236}">
                <a16:creationId xmlns:a16="http://schemas.microsoft.com/office/drawing/2014/main" id="{3569C474-9C37-8497-AB73-194E5B9FBD4E}"/>
              </a:ext>
            </a:extLst>
          </p:cNvPr>
          <p:cNvSpPr txBox="1"/>
          <p:nvPr/>
        </p:nvSpPr>
        <p:spPr>
          <a:xfrm>
            <a:off x="3527662" y="1912482"/>
            <a:ext cx="11232676" cy="724301"/>
          </a:xfrm>
          <a:prstGeom prst="rect">
            <a:avLst/>
          </a:prstGeom>
        </p:spPr>
        <p:txBody>
          <a:bodyPr lIns="0" tIns="0" rIns="0" bIns="0" rtlCol="0" anchor="t">
            <a:spAutoFit/>
          </a:bodyPr>
          <a:lstStyle/>
          <a:p>
            <a:pPr algn="ctr">
              <a:lnSpc>
                <a:spcPts val="6413"/>
              </a:lnSpc>
            </a:pPr>
            <a:r>
              <a:rPr lang="en-US" sz="5300" dirty="0">
                <a:solidFill>
                  <a:srgbClr val="0A8271"/>
                </a:solidFill>
                <a:latin typeface="Bernoru"/>
                <a:ea typeface="Bernoru"/>
                <a:cs typeface="Bernoru"/>
                <a:sym typeface="Bernoru"/>
              </a:rPr>
              <a:t>METHODOLOGY</a:t>
            </a:r>
          </a:p>
        </p:txBody>
      </p:sp>
      <p:sp>
        <p:nvSpPr>
          <p:cNvPr id="14" name="TextBox 14">
            <a:extLst>
              <a:ext uri="{FF2B5EF4-FFF2-40B4-BE49-F238E27FC236}">
                <a16:creationId xmlns:a16="http://schemas.microsoft.com/office/drawing/2014/main" id="{00460D6E-719E-C359-F4F3-DD873E006F1B}"/>
              </a:ext>
            </a:extLst>
          </p:cNvPr>
          <p:cNvSpPr txBox="1"/>
          <p:nvPr/>
        </p:nvSpPr>
        <p:spPr>
          <a:xfrm>
            <a:off x="3851650" y="4005125"/>
            <a:ext cx="10584700" cy="399533"/>
          </a:xfrm>
          <a:prstGeom prst="rect">
            <a:avLst/>
          </a:prstGeom>
        </p:spPr>
        <p:txBody>
          <a:bodyPr lIns="0" tIns="0" rIns="0" bIns="0" rtlCol="0" anchor="t">
            <a:spAutoFit/>
          </a:bodyPr>
          <a:lstStyle/>
          <a:p>
            <a:pPr marL="410209" lvl="1" indent="-205105" algn="just">
              <a:lnSpc>
                <a:spcPts val="3362"/>
              </a:lnSpc>
              <a:buFont typeface="Arial"/>
              <a:buChar char="•"/>
            </a:pPr>
            <a:endParaRPr lang="en-US" sz="1899" spc="205" dirty="0">
              <a:solidFill>
                <a:srgbClr val="FFFFFF"/>
              </a:solidFill>
              <a:latin typeface="Magnolia Script"/>
              <a:ea typeface="Magnolia Script"/>
              <a:cs typeface="Magnolia Script"/>
              <a:sym typeface="Magnolia Script"/>
            </a:endParaRPr>
          </a:p>
        </p:txBody>
      </p:sp>
      <p:pic>
        <p:nvPicPr>
          <p:cNvPr id="4098" name="Picture 2" descr="Generated image">
            <a:extLst>
              <a:ext uri="{FF2B5EF4-FFF2-40B4-BE49-F238E27FC236}">
                <a16:creationId xmlns:a16="http://schemas.microsoft.com/office/drawing/2014/main" id="{7C135C6B-11B7-9D6D-D905-0644E4CDBB2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27662" y="3603626"/>
            <a:ext cx="11232676" cy="4623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656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56B01-9C67-4828-BFF9-941D5991D46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E3FFDF-6A9A-0991-CD6F-617E8ED73B57}"/>
              </a:ext>
            </a:extLst>
          </p:cNvPr>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3" name="Group 3">
            <a:extLst>
              <a:ext uri="{FF2B5EF4-FFF2-40B4-BE49-F238E27FC236}">
                <a16:creationId xmlns:a16="http://schemas.microsoft.com/office/drawing/2014/main" id="{A836EEF9-0A05-85F9-39D9-D4EFF42827B2}"/>
              </a:ext>
            </a:extLst>
          </p:cNvPr>
          <p:cNvGrpSpPr/>
          <p:nvPr/>
        </p:nvGrpSpPr>
        <p:grpSpPr>
          <a:xfrm>
            <a:off x="3049678" y="3054749"/>
            <a:ext cx="12188644" cy="5504415"/>
            <a:chOff x="0" y="0"/>
            <a:chExt cx="3618604" cy="1279410"/>
          </a:xfrm>
        </p:grpSpPr>
        <p:sp>
          <p:nvSpPr>
            <p:cNvPr id="4" name="Freeform 4">
              <a:extLst>
                <a:ext uri="{FF2B5EF4-FFF2-40B4-BE49-F238E27FC236}">
                  <a16:creationId xmlns:a16="http://schemas.microsoft.com/office/drawing/2014/main" id="{7A6C4B2D-620A-F7FD-FD70-EC806A86C87F}"/>
                </a:ext>
              </a:extLst>
            </p:cNvPr>
            <p:cNvSpPr/>
            <p:nvPr/>
          </p:nvSpPr>
          <p:spPr>
            <a:xfrm>
              <a:off x="0" y="0"/>
              <a:ext cx="3618604" cy="1279410"/>
            </a:xfrm>
            <a:custGeom>
              <a:avLst/>
              <a:gdLst/>
              <a:ahLst/>
              <a:cxnLst/>
              <a:rect l="l" t="t" r="r" b="b"/>
              <a:pathLst>
                <a:path w="3618604" h="1279410">
                  <a:moveTo>
                    <a:pt x="32394" y="0"/>
                  </a:moveTo>
                  <a:lnTo>
                    <a:pt x="3586210" y="0"/>
                  </a:lnTo>
                  <a:cubicBezTo>
                    <a:pt x="3594802" y="0"/>
                    <a:pt x="3603041" y="3413"/>
                    <a:pt x="3609116" y="9488"/>
                  </a:cubicBezTo>
                  <a:cubicBezTo>
                    <a:pt x="3615191" y="15563"/>
                    <a:pt x="3618604" y="23803"/>
                    <a:pt x="3618604" y="32394"/>
                  </a:cubicBezTo>
                  <a:lnTo>
                    <a:pt x="3618604" y="1247017"/>
                  </a:lnTo>
                  <a:cubicBezTo>
                    <a:pt x="3618604" y="1255608"/>
                    <a:pt x="3615191" y="1263847"/>
                    <a:pt x="3609116" y="1269922"/>
                  </a:cubicBezTo>
                  <a:cubicBezTo>
                    <a:pt x="3603041" y="1275998"/>
                    <a:pt x="3594802" y="1279410"/>
                    <a:pt x="3586210" y="1279410"/>
                  </a:cubicBezTo>
                  <a:lnTo>
                    <a:pt x="32394" y="1279410"/>
                  </a:lnTo>
                  <a:cubicBezTo>
                    <a:pt x="14503" y="1279410"/>
                    <a:pt x="0" y="1264907"/>
                    <a:pt x="0" y="1247017"/>
                  </a:cubicBezTo>
                  <a:lnTo>
                    <a:pt x="0" y="32394"/>
                  </a:lnTo>
                  <a:cubicBezTo>
                    <a:pt x="0" y="23803"/>
                    <a:pt x="3413" y="15563"/>
                    <a:pt x="9488" y="9488"/>
                  </a:cubicBezTo>
                  <a:cubicBezTo>
                    <a:pt x="15563" y="3413"/>
                    <a:pt x="23803" y="0"/>
                    <a:pt x="32394" y="0"/>
                  </a:cubicBezTo>
                  <a:close/>
                </a:path>
              </a:pathLst>
            </a:custGeom>
            <a:solidFill>
              <a:srgbClr val="5EB2BA"/>
            </a:solidFill>
          </p:spPr>
          <p:txBody>
            <a:bodyPr/>
            <a:lstStyle/>
            <a:p>
              <a:endParaRPr lang="en-IN"/>
            </a:p>
          </p:txBody>
        </p:sp>
        <p:sp>
          <p:nvSpPr>
            <p:cNvPr id="5" name="TextBox 5">
              <a:extLst>
                <a:ext uri="{FF2B5EF4-FFF2-40B4-BE49-F238E27FC236}">
                  <a16:creationId xmlns:a16="http://schemas.microsoft.com/office/drawing/2014/main" id="{3E5E8C92-C9C5-4E32-A593-C9E5233A6041}"/>
                </a:ext>
              </a:extLst>
            </p:cNvPr>
            <p:cNvSpPr txBox="1"/>
            <p:nvPr/>
          </p:nvSpPr>
          <p:spPr>
            <a:xfrm>
              <a:off x="0" y="-28575"/>
              <a:ext cx="3618604" cy="130798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4CDF924E-B402-1B2A-D06F-0895D98567AC}"/>
              </a:ext>
            </a:extLst>
          </p:cNvPr>
          <p:cNvSpPr txBox="1"/>
          <p:nvPr/>
        </p:nvSpPr>
        <p:spPr>
          <a:xfrm>
            <a:off x="3318513" y="1727835"/>
            <a:ext cx="9527828" cy="848950"/>
          </a:xfrm>
          <a:prstGeom prst="rect">
            <a:avLst/>
          </a:prstGeom>
        </p:spPr>
        <p:txBody>
          <a:bodyPr lIns="0" tIns="0" rIns="0" bIns="0" rtlCol="0" anchor="t">
            <a:spAutoFit/>
          </a:bodyPr>
          <a:lstStyle/>
          <a:p>
            <a:pPr algn="l">
              <a:lnSpc>
                <a:spcPts val="7527"/>
              </a:lnSpc>
            </a:pPr>
            <a:r>
              <a:rPr lang="en-US" sz="6220" dirty="0">
                <a:solidFill>
                  <a:srgbClr val="0A8271"/>
                </a:solidFill>
                <a:latin typeface="Bernoru"/>
                <a:ea typeface="Bernoru"/>
                <a:cs typeface="Bernoru"/>
                <a:sym typeface="Bernoru"/>
              </a:rPr>
              <a:t>Dataset Description</a:t>
            </a:r>
          </a:p>
        </p:txBody>
      </p:sp>
      <p:sp>
        <p:nvSpPr>
          <p:cNvPr id="8" name="Freeform 8">
            <a:extLst>
              <a:ext uri="{FF2B5EF4-FFF2-40B4-BE49-F238E27FC236}">
                <a16:creationId xmlns:a16="http://schemas.microsoft.com/office/drawing/2014/main" id="{4A6BD7FA-5883-DAD8-5618-E616447D57D3}"/>
              </a:ext>
            </a:extLst>
          </p:cNvPr>
          <p:cNvSpPr/>
          <p:nvPr/>
        </p:nvSpPr>
        <p:spPr>
          <a:xfrm flipH="1" flipV="1">
            <a:off x="14961045" y="615014"/>
            <a:ext cx="2298255" cy="827372"/>
          </a:xfrm>
          <a:custGeom>
            <a:avLst/>
            <a:gdLst/>
            <a:ahLst/>
            <a:cxnLst/>
            <a:rect l="l" t="t" r="r" b="b"/>
            <a:pathLst>
              <a:path w="2298255" h="827372">
                <a:moveTo>
                  <a:pt x="2298255" y="827372"/>
                </a:moveTo>
                <a:lnTo>
                  <a:pt x="0" y="827372"/>
                </a:lnTo>
                <a:lnTo>
                  <a:pt x="0" y="0"/>
                </a:lnTo>
                <a:lnTo>
                  <a:pt x="2298255" y="0"/>
                </a:lnTo>
                <a:lnTo>
                  <a:pt x="2298255" y="827372"/>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9" name="Freeform 9">
            <a:extLst>
              <a:ext uri="{FF2B5EF4-FFF2-40B4-BE49-F238E27FC236}">
                <a16:creationId xmlns:a16="http://schemas.microsoft.com/office/drawing/2014/main" id="{0DFEA70C-3103-8F36-A95D-FED699BC1242}"/>
              </a:ext>
            </a:extLst>
          </p:cNvPr>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10" name="Freeform 10">
            <a:extLst>
              <a:ext uri="{FF2B5EF4-FFF2-40B4-BE49-F238E27FC236}">
                <a16:creationId xmlns:a16="http://schemas.microsoft.com/office/drawing/2014/main" id="{946A0CC7-EBB7-916B-897C-966635D86600}"/>
              </a:ext>
            </a:extLst>
          </p:cNvPr>
          <p:cNvSpPr/>
          <p:nvPr/>
        </p:nvSpPr>
        <p:spPr>
          <a:xfrm>
            <a:off x="32989" y="8186762"/>
            <a:ext cx="1082024" cy="993495"/>
          </a:xfrm>
          <a:custGeom>
            <a:avLst/>
            <a:gdLst/>
            <a:ahLst/>
            <a:cxnLst/>
            <a:rect l="l" t="t" r="r" b="b"/>
            <a:pathLst>
              <a:path w="1082024" h="993495">
                <a:moveTo>
                  <a:pt x="0" y="0"/>
                </a:moveTo>
                <a:lnTo>
                  <a:pt x="1082024" y="0"/>
                </a:lnTo>
                <a:lnTo>
                  <a:pt x="1082024" y="993495"/>
                </a:lnTo>
                <a:lnTo>
                  <a:pt x="0" y="993495"/>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1" name="Freeform 11">
            <a:extLst>
              <a:ext uri="{FF2B5EF4-FFF2-40B4-BE49-F238E27FC236}">
                <a16:creationId xmlns:a16="http://schemas.microsoft.com/office/drawing/2014/main" id="{13EF47A1-1203-85C7-11B0-B51FF1FDA342}"/>
              </a:ext>
            </a:extLst>
          </p:cNvPr>
          <p:cNvSpPr/>
          <p:nvPr/>
        </p:nvSpPr>
        <p:spPr>
          <a:xfrm>
            <a:off x="1115013" y="8927134"/>
            <a:ext cx="721352" cy="662333"/>
          </a:xfrm>
          <a:custGeom>
            <a:avLst/>
            <a:gdLst/>
            <a:ahLst/>
            <a:cxnLst/>
            <a:rect l="l" t="t" r="r" b="b"/>
            <a:pathLst>
              <a:path w="721352" h="662333">
                <a:moveTo>
                  <a:pt x="0" y="0"/>
                </a:moveTo>
                <a:lnTo>
                  <a:pt x="721353" y="0"/>
                </a:lnTo>
                <a:lnTo>
                  <a:pt x="721353" y="662332"/>
                </a:lnTo>
                <a:lnTo>
                  <a:pt x="0" y="66233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2" name="Freeform 12">
            <a:extLst>
              <a:ext uri="{FF2B5EF4-FFF2-40B4-BE49-F238E27FC236}">
                <a16:creationId xmlns:a16="http://schemas.microsoft.com/office/drawing/2014/main" id="{4A8E0A90-099C-95DA-CA82-2F7659E4F539}"/>
              </a:ext>
            </a:extLst>
          </p:cNvPr>
          <p:cNvSpPr/>
          <p:nvPr/>
        </p:nvSpPr>
        <p:spPr>
          <a:xfrm>
            <a:off x="455018" y="9681004"/>
            <a:ext cx="659996" cy="605996"/>
          </a:xfrm>
          <a:custGeom>
            <a:avLst/>
            <a:gdLst/>
            <a:ahLst/>
            <a:cxnLst/>
            <a:rect l="l" t="t" r="r" b="b"/>
            <a:pathLst>
              <a:path w="659996" h="605996">
                <a:moveTo>
                  <a:pt x="0" y="0"/>
                </a:moveTo>
                <a:lnTo>
                  <a:pt x="659995" y="0"/>
                </a:lnTo>
                <a:lnTo>
                  <a:pt x="659995" y="605996"/>
                </a:lnTo>
                <a:lnTo>
                  <a:pt x="0" y="60599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17" name="Rectangle 4">
            <a:extLst>
              <a:ext uri="{FF2B5EF4-FFF2-40B4-BE49-F238E27FC236}">
                <a16:creationId xmlns:a16="http://schemas.microsoft.com/office/drawing/2014/main" id="{C41002FE-233A-0E9F-E7E8-5CEA3EC10F27}"/>
              </a:ext>
            </a:extLst>
          </p:cNvPr>
          <p:cNvSpPr>
            <a:spLocks noChangeArrowheads="1"/>
          </p:cNvSpPr>
          <p:nvPr/>
        </p:nvSpPr>
        <p:spPr bwMode="auto">
          <a:xfrm>
            <a:off x="3581399" y="3054750"/>
            <a:ext cx="11508921" cy="5563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50" i="0" u="none" strike="noStrike" cap="none" normalizeH="0" baseline="0" dirty="0">
                <a:ln>
                  <a:noFill/>
                </a:ln>
                <a:solidFill>
                  <a:schemeClr val="bg1"/>
                </a:solidFill>
                <a:effectLst/>
                <a:latin typeface="Magnolia Script" panose="020B0604020202020204" charset="0"/>
              </a:rPr>
              <a:t>A custom dataset with over 100 rare diseases was built using the Wikipedia API</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50" i="0" u="none" strike="noStrike" cap="none" normalizeH="0" baseline="0" dirty="0">
                <a:ln>
                  <a:noFill/>
                </a:ln>
                <a:solidFill>
                  <a:schemeClr val="bg1"/>
                </a:solidFill>
                <a:effectLst/>
                <a:latin typeface="Magnolia Script" panose="020B0604020202020204" charset="0"/>
              </a:rPr>
              <a:t>For each disease, a short medical summary (2–3 sentences) was collected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50" i="0" u="none" strike="noStrike" cap="none" normalizeH="0" baseline="0" dirty="0">
                <a:ln>
                  <a:noFill/>
                </a:ln>
                <a:solidFill>
                  <a:schemeClr val="bg1"/>
                </a:solidFill>
                <a:effectLst/>
                <a:latin typeface="Magnolia Script" panose="020B0604020202020204" charset="0"/>
              </a:rPr>
              <a:t>All summaries were saved in a CSV file with two columns:</a:t>
            </a:r>
          </a:p>
          <a:p>
            <a:pPr marR="0" lvl="0" algn="just" defTabSz="914400" rtl="0" eaLnBrk="0" fontAlgn="base" latinLnBrk="0" hangingPunct="0">
              <a:lnSpc>
                <a:spcPct val="150000"/>
              </a:lnSpc>
              <a:spcBef>
                <a:spcPct val="0"/>
              </a:spcBef>
              <a:spcAft>
                <a:spcPct val="0"/>
              </a:spcAft>
              <a:buClrTx/>
              <a:buSzTx/>
              <a:tabLst/>
            </a:pPr>
            <a:r>
              <a:rPr kumimoji="0" lang="en-US" altLang="en-US" sz="2250" i="0" u="none" strike="noStrike" cap="none" normalizeH="0" baseline="0" dirty="0">
                <a:ln>
                  <a:noFill/>
                </a:ln>
                <a:solidFill>
                  <a:schemeClr val="bg1"/>
                </a:solidFill>
                <a:effectLst/>
                <a:latin typeface="Magnolia Script" panose="020B0604020202020204" charset="0"/>
              </a:rPr>
              <a:t>          </a:t>
            </a:r>
            <a:r>
              <a:rPr kumimoji="0" lang="en-US" altLang="en-US" sz="2250" i="0" u="none" strike="noStrike" cap="none" normalizeH="0" baseline="0" dirty="0">
                <a:ln>
                  <a:noFill/>
                </a:ln>
                <a:solidFill>
                  <a:schemeClr val="bg1"/>
                </a:solidFill>
                <a:effectLst/>
                <a:latin typeface="Magnolia Script" panose="020B0604020202020204" charset="0"/>
                <a:sym typeface="Wingdings" panose="05000000000000000000" pitchFamily="2" charset="2"/>
              </a:rPr>
              <a:t> </a:t>
            </a:r>
            <a:r>
              <a:rPr kumimoji="0" lang="en-US" altLang="en-US" sz="2250" i="0" u="none" strike="noStrike" cap="none" normalizeH="0" baseline="0" dirty="0">
                <a:ln>
                  <a:noFill/>
                </a:ln>
                <a:solidFill>
                  <a:schemeClr val="bg1"/>
                </a:solidFill>
                <a:effectLst/>
                <a:latin typeface="Magnolia Script" panose="020B0604020202020204" charset="0"/>
              </a:rPr>
              <a:t>Name – the disease name</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250" i="0" u="none" strike="noStrike" cap="none" normalizeH="0" baseline="0" dirty="0">
                <a:ln>
                  <a:noFill/>
                </a:ln>
                <a:solidFill>
                  <a:schemeClr val="bg1"/>
                </a:solidFill>
                <a:effectLst/>
                <a:latin typeface="Magnolia Script" panose="020B0604020202020204" charset="0"/>
              </a:rPr>
              <a:t>          </a:t>
            </a:r>
            <a:r>
              <a:rPr kumimoji="0" lang="en-US" altLang="en-US" sz="2250" i="0" u="none" strike="noStrike" cap="none" normalizeH="0" baseline="0" dirty="0">
                <a:ln>
                  <a:noFill/>
                </a:ln>
                <a:solidFill>
                  <a:schemeClr val="bg1"/>
                </a:solidFill>
                <a:effectLst/>
                <a:latin typeface="Magnolia Script" panose="020B0604020202020204" charset="0"/>
                <a:sym typeface="Wingdings" panose="05000000000000000000" pitchFamily="2" charset="2"/>
              </a:rPr>
              <a:t> </a:t>
            </a:r>
            <a:r>
              <a:rPr kumimoji="0" lang="en-US" altLang="en-US" sz="2250" i="0" u="none" strike="noStrike" cap="none" normalizeH="0" baseline="0" dirty="0">
                <a:ln>
                  <a:noFill/>
                </a:ln>
                <a:solidFill>
                  <a:schemeClr val="bg1"/>
                </a:solidFill>
                <a:effectLst/>
                <a:latin typeface="Magnolia Script" panose="020B0604020202020204" charset="0"/>
              </a:rPr>
              <a:t> Description – a brief explanation of the disease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50" i="0" u="none" strike="noStrike" cap="none" normalizeH="0" baseline="0" dirty="0">
                <a:ln>
                  <a:noFill/>
                </a:ln>
                <a:solidFill>
                  <a:schemeClr val="bg1"/>
                </a:solidFill>
                <a:effectLst/>
                <a:latin typeface="Magnolia Script" panose="020B0604020202020204" charset="0"/>
              </a:rPr>
              <a:t>These descriptions are used to match with patient symptoms using text-based similarity</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250" i="0" u="none" strike="noStrike" cap="none" normalizeH="0" baseline="0" dirty="0">
                <a:ln>
                  <a:noFill/>
                </a:ln>
                <a:solidFill>
                  <a:schemeClr val="bg1"/>
                </a:solidFill>
                <a:effectLst/>
                <a:latin typeface="Magnolia Script" panose="020B0604020202020204" charset="0"/>
              </a:rPr>
              <a:t>The dataset is: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250" i="0" u="none" strike="noStrike" cap="none" normalizeH="0" baseline="0" dirty="0">
                <a:ln>
                  <a:noFill/>
                </a:ln>
                <a:solidFill>
                  <a:schemeClr val="bg1"/>
                </a:solidFill>
                <a:effectLst/>
                <a:latin typeface="Magnolia Script" panose="020B0604020202020204" charset="0"/>
              </a:rPr>
              <a:t>          </a:t>
            </a:r>
            <a:r>
              <a:rPr kumimoji="0" lang="en-US" altLang="en-US" sz="2250" i="0" u="none" strike="noStrike" cap="none" normalizeH="0" baseline="0" dirty="0">
                <a:ln>
                  <a:noFill/>
                </a:ln>
                <a:solidFill>
                  <a:schemeClr val="bg1"/>
                </a:solidFill>
                <a:effectLst/>
                <a:latin typeface="Magnolia Script" panose="020B0604020202020204" charset="0"/>
                <a:sym typeface="Wingdings" panose="05000000000000000000" pitchFamily="2" charset="2"/>
              </a:rPr>
              <a:t></a:t>
            </a:r>
            <a:r>
              <a:rPr kumimoji="0" lang="en-US" altLang="en-US" sz="2250" i="0" u="none" strike="noStrike" cap="none" normalizeH="0" baseline="0" dirty="0">
                <a:ln>
                  <a:noFill/>
                </a:ln>
                <a:solidFill>
                  <a:schemeClr val="bg1"/>
                </a:solidFill>
                <a:effectLst/>
                <a:latin typeface="Magnolia Script" panose="020B0604020202020204" charset="0"/>
              </a:rPr>
              <a:t>Lightweight and easy to handle</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250" i="0" u="none" strike="noStrike" cap="none" normalizeH="0" baseline="0" dirty="0">
                <a:ln>
                  <a:noFill/>
                </a:ln>
                <a:solidFill>
                  <a:schemeClr val="bg1"/>
                </a:solidFill>
                <a:effectLst/>
                <a:latin typeface="Magnolia Script" panose="020B0604020202020204" charset="0"/>
              </a:rPr>
              <a:t>          </a:t>
            </a:r>
            <a:r>
              <a:rPr kumimoji="0" lang="en-US" altLang="en-US" sz="2250" i="0" u="none" strike="noStrike" cap="none" normalizeH="0" baseline="0" dirty="0">
                <a:ln>
                  <a:noFill/>
                </a:ln>
                <a:solidFill>
                  <a:schemeClr val="bg1"/>
                </a:solidFill>
                <a:effectLst/>
                <a:latin typeface="Magnolia Script" panose="020B0604020202020204" charset="0"/>
                <a:sym typeface="Wingdings" panose="05000000000000000000" pitchFamily="2" charset="2"/>
              </a:rPr>
              <a:t></a:t>
            </a:r>
            <a:r>
              <a:rPr kumimoji="0" lang="en-US" altLang="en-US" sz="2250" i="0" u="none" strike="noStrike" cap="none" normalizeH="0" baseline="0" dirty="0">
                <a:ln>
                  <a:noFill/>
                </a:ln>
                <a:solidFill>
                  <a:schemeClr val="bg1"/>
                </a:solidFill>
                <a:effectLst/>
                <a:latin typeface="Magnolia Script" panose="020B0604020202020204" charset="0"/>
              </a:rPr>
              <a:t>Automatically generated and updatable</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250" i="0" u="none" strike="noStrike" cap="none" normalizeH="0" baseline="0" dirty="0">
                <a:ln>
                  <a:noFill/>
                </a:ln>
                <a:solidFill>
                  <a:schemeClr val="bg1"/>
                </a:solidFill>
                <a:effectLst/>
                <a:latin typeface="Magnolia Script" panose="020B0604020202020204" charset="0"/>
              </a:rPr>
              <a:t>          </a:t>
            </a:r>
            <a:r>
              <a:rPr kumimoji="0" lang="en-US" altLang="en-US" sz="2250" i="0" u="none" strike="noStrike" cap="none" normalizeH="0" baseline="0" dirty="0">
                <a:ln>
                  <a:noFill/>
                </a:ln>
                <a:solidFill>
                  <a:schemeClr val="bg1"/>
                </a:solidFill>
                <a:effectLst/>
                <a:latin typeface="Magnolia Script" panose="020B0604020202020204" charset="0"/>
                <a:sym typeface="Wingdings" panose="05000000000000000000" pitchFamily="2" charset="2"/>
              </a:rPr>
              <a:t></a:t>
            </a:r>
            <a:r>
              <a:rPr kumimoji="0" lang="en-US" altLang="en-US" sz="2250" i="0" u="none" strike="noStrike" cap="none" normalizeH="0" baseline="0" dirty="0">
                <a:ln>
                  <a:noFill/>
                </a:ln>
                <a:solidFill>
                  <a:schemeClr val="bg1"/>
                </a:solidFill>
                <a:effectLst/>
                <a:latin typeface="Magnolia Script" panose="020B0604020202020204" charset="0"/>
              </a:rPr>
              <a:t>Well-suited for semantic matching using models like BioBERT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7978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3CFD-C4CE-AE9A-45C7-7DE5068BAC5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4DC5CF-C542-1DCF-71CE-97AEB4FF7210}"/>
              </a:ext>
            </a:extLst>
          </p:cNvPr>
          <p:cNvSpPr/>
          <p:nvPr/>
        </p:nvSpPr>
        <p:spPr>
          <a:xfrm flipH="1" flipV="1">
            <a:off x="13579482" y="5615012"/>
            <a:ext cx="5247619" cy="5143500"/>
          </a:xfrm>
          <a:custGeom>
            <a:avLst/>
            <a:gdLst/>
            <a:ahLst/>
            <a:cxnLst/>
            <a:rect l="l" t="t" r="r" b="b"/>
            <a:pathLst>
              <a:path w="5247619" h="5143500">
                <a:moveTo>
                  <a:pt x="5247619" y="5143500"/>
                </a:moveTo>
                <a:lnTo>
                  <a:pt x="0" y="5143500"/>
                </a:lnTo>
                <a:lnTo>
                  <a:pt x="0" y="0"/>
                </a:lnTo>
                <a:lnTo>
                  <a:pt x="5247619" y="0"/>
                </a:lnTo>
                <a:lnTo>
                  <a:pt x="5247619"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3" name="Freeform 3">
            <a:extLst>
              <a:ext uri="{FF2B5EF4-FFF2-40B4-BE49-F238E27FC236}">
                <a16:creationId xmlns:a16="http://schemas.microsoft.com/office/drawing/2014/main" id="{E76C61B9-B0D2-1CE9-7F86-3A4C6D7D8DE2}"/>
              </a:ext>
            </a:extLst>
          </p:cNvPr>
          <p:cNvSpPr/>
          <p:nvPr/>
        </p:nvSpPr>
        <p:spPr>
          <a:xfrm>
            <a:off x="-1060413" y="-823170"/>
            <a:ext cx="5620930" cy="5509404"/>
          </a:xfrm>
          <a:custGeom>
            <a:avLst/>
            <a:gdLst/>
            <a:ahLst/>
            <a:cxnLst/>
            <a:rect l="l" t="t" r="r" b="b"/>
            <a:pathLst>
              <a:path w="5620930" h="5509404">
                <a:moveTo>
                  <a:pt x="0" y="0"/>
                </a:moveTo>
                <a:lnTo>
                  <a:pt x="5620930" y="0"/>
                </a:lnTo>
                <a:lnTo>
                  <a:pt x="5620930" y="5509404"/>
                </a:lnTo>
                <a:lnTo>
                  <a:pt x="0" y="550940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grpSp>
        <p:nvGrpSpPr>
          <p:cNvPr id="4" name="Group 4">
            <a:extLst>
              <a:ext uri="{FF2B5EF4-FFF2-40B4-BE49-F238E27FC236}">
                <a16:creationId xmlns:a16="http://schemas.microsoft.com/office/drawing/2014/main" id="{29CCBED6-DA3C-D69E-D34B-7F52443954D8}"/>
              </a:ext>
            </a:extLst>
          </p:cNvPr>
          <p:cNvGrpSpPr/>
          <p:nvPr/>
        </p:nvGrpSpPr>
        <p:grpSpPr>
          <a:xfrm>
            <a:off x="3527662" y="3009900"/>
            <a:ext cx="11232676" cy="5143500"/>
            <a:chOff x="0" y="0"/>
            <a:chExt cx="3525086" cy="1422505"/>
          </a:xfrm>
        </p:grpSpPr>
        <p:sp>
          <p:nvSpPr>
            <p:cNvPr id="5" name="Freeform 5">
              <a:extLst>
                <a:ext uri="{FF2B5EF4-FFF2-40B4-BE49-F238E27FC236}">
                  <a16:creationId xmlns:a16="http://schemas.microsoft.com/office/drawing/2014/main" id="{65590682-4F78-D123-1877-5496B2A4FCAF}"/>
                </a:ext>
              </a:extLst>
            </p:cNvPr>
            <p:cNvSpPr/>
            <p:nvPr/>
          </p:nvSpPr>
          <p:spPr>
            <a:xfrm>
              <a:off x="0" y="0"/>
              <a:ext cx="3525086" cy="1422505"/>
            </a:xfrm>
            <a:custGeom>
              <a:avLst/>
              <a:gdLst/>
              <a:ahLst/>
              <a:cxnLst/>
              <a:rect l="l" t="t" r="r" b="b"/>
              <a:pathLst>
                <a:path w="3525086" h="1422505">
                  <a:moveTo>
                    <a:pt x="35151" y="0"/>
                  </a:moveTo>
                  <a:lnTo>
                    <a:pt x="3489935" y="0"/>
                  </a:lnTo>
                  <a:cubicBezTo>
                    <a:pt x="3499257" y="0"/>
                    <a:pt x="3508198" y="3703"/>
                    <a:pt x="3514790" y="10295"/>
                  </a:cubicBezTo>
                  <a:cubicBezTo>
                    <a:pt x="3521382" y="16888"/>
                    <a:pt x="3525086" y="25828"/>
                    <a:pt x="3525086" y="35151"/>
                  </a:cubicBezTo>
                  <a:lnTo>
                    <a:pt x="3525086" y="1387354"/>
                  </a:lnTo>
                  <a:cubicBezTo>
                    <a:pt x="3525086" y="1406768"/>
                    <a:pt x="3509348" y="1422505"/>
                    <a:pt x="3489935" y="1422505"/>
                  </a:cubicBezTo>
                  <a:lnTo>
                    <a:pt x="35151" y="1422505"/>
                  </a:lnTo>
                  <a:cubicBezTo>
                    <a:pt x="25828" y="1422505"/>
                    <a:pt x="16888" y="1418802"/>
                    <a:pt x="10295" y="1412210"/>
                  </a:cubicBezTo>
                  <a:cubicBezTo>
                    <a:pt x="3703" y="1405618"/>
                    <a:pt x="0" y="1396677"/>
                    <a:pt x="0" y="1387354"/>
                  </a:cubicBezTo>
                  <a:lnTo>
                    <a:pt x="0" y="35151"/>
                  </a:lnTo>
                  <a:cubicBezTo>
                    <a:pt x="0" y="25828"/>
                    <a:pt x="3703" y="16888"/>
                    <a:pt x="10295" y="10295"/>
                  </a:cubicBezTo>
                  <a:cubicBezTo>
                    <a:pt x="16888" y="3703"/>
                    <a:pt x="25828" y="0"/>
                    <a:pt x="35151" y="0"/>
                  </a:cubicBezTo>
                  <a:close/>
                </a:path>
              </a:pathLst>
            </a:custGeom>
            <a:solidFill>
              <a:srgbClr val="5EB2BA"/>
            </a:solidFill>
          </p:spPr>
          <p:txBody>
            <a:bodyPr/>
            <a:lstStyle/>
            <a:p>
              <a:endParaRPr lang="en-IN"/>
            </a:p>
          </p:txBody>
        </p:sp>
        <p:sp>
          <p:nvSpPr>
            <p:cNvPr id="6" name="TextBox 6">
              <a:extLst>
                <a:ext uri="{FF2B5EF4-FFF2-40B4-BE49-F238E27FC236}">
                  <a16:creationId xmlns:a16="http://schemas.microsoft.com/office/drawing/2014/main" id="{87B8C224-4B42-3F9F-6934-5077B701B7D5}"/>
                </a:ext>
              </a:extLst>
            </p:cNvPr>
            <p:cNvSpPr txBox="1"/>
            <p:nvPr/>
          </p:nvSpPr>
          <p:spPr>
            <a:xfrm>
              <a:off x="0" y="-28575"/>
              <a:ext cx="3525086" cy="145108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AA0EF3B5-BF64-6A71-DE75-AB91C5CCA2DE}"/>
              </a:ext>
            </a:extLst>
          </p:cNvPr>
          <p:cNvSpPr/>
          <p:nvPr/>
        </p:nvSpPr>
        <p:spPr>
          <a:xfrm>
            <a:off x="681372" y="7639690"/>
            <a:ext cx="1082024" cy="993495"/>
          </a:xfrm>
          <a:custGeom>
            <a:avLst/>
            <a:gdLst/>
            <a:ahLst/>
            <a:cxnLst/>
            <a:rect l="l" t="t" r="r" b="b"/>
            <a:pathLst>
              <a:path w="1082024" h="993495">
                <a:moveTo>
                  <a:pt x="0" y="0"/>
                </a:moveTo>
                <a:lnTo>
                  <a:pt x="1082024" y="0"/>
                </a:lnTo>
                <a:lnTo>
                  <a:pt x="1082024" y="993494"/>
                </a:lnTo>
                <a:lnTo>
                  <a:pt x="0" y="99349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8" name="Freeform 8">
            <a:extLst>
              <a:ext uri="{FF2B5EF4-FFF2-40B4-BE49-F238E27FC236}">
                <a16:creationId xmlns:a16="http://schemas.microsoft.com/office/drawing/2014/main" id="{278FEA51-B176-373C-285F-E9D5EF1B60DA}"/>
              </a:ext>
            </a:extLst>
          </p:cNvPr>
          <p:cNvSpPr/>
          <p:nvPr/>
        </p:nvSpPr>
        <p:spPr>
          <a:xfrm>
            <a:off x="1763396" y="8380061"/>
            <a:ext cx="721352" cy="662333"/>
          </a:xfrm>
          <a:custGeom>
            <a:avLst/>
            <a:gdLst/>
            <a:ahLst/>
            <a:cxnLst/>
            <a:rect l="l" t="t" r="r" b="b"/>
            <a:pathLst>
              <a:path w="721352" h="662333">
                <a:moveTo>
                  <a:pt x="0" y="0"/>
                </a:moveTo>
                <a:lnTo>
                  <a:pt x="721352" y="0"/>
                </a:lnTo>
                <a:lnTo>
                  <a:pt x="721352" y="662332"/>
                </a:lnTo>
                <a:lnTo>
                  <a:pt x="0" y="66233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9" name="Freeform 9">
            <a:extLst>
              <a:ext uri="{FF2B5EF4-FFF2-40B4-BE49-F238E27FC236}">
                <a16:creationId xmlns:a16="http://schemas.microsoft.com/office/drawing/2014/main" id="{71DD0FCF-06F7-9718-4F18-0580D82D9F4D}"/>
              </a:ext>
            </a:extLst>
          </p:cNvPr>
          <p:cNvSpPr/>
          <p:nvPr/>
        </p:nvSpPr>
        <p:spPr>
          <a:xfrm>
            <a:off x="1103400" y="9133931"/>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10" name="Freeform 10">
            <a:extLst>
              <a:ext uri="{FF2B5EF4-FFF2-40B4-BE49-F238E27FC236}">
                <a16:creationId xmlns:a16="http://schemas.microsoft.com/office/drawing/2014/main" id="{7FF55762-9BF7-C83C-00C1-7B25C11200D1}"/>
              </a:ext>
            </a:extLst>
          </p:cNvPr>
          <p:cNvSpPr/>
          <p:nvPr/>
        </p:nvSpPr>
        <p:spPr>
          <a:xfrm flipH="1">
            <a:off x="14961045" y="615014"/>
            <a:ext cx="2298255" cy="827372"/>
          </a:xfrm>
          <a:custGeom>
            <a:avLst/>
            <a:gdLst/>
            <a:ahLst/>
            <a:cxnLst/>
            <a:rect l="l" t="t" r="r" b="b"/>
            <a:pathLst>
              <a:path w="2298255" h="827372">
                <a:moveTo>
                  <a:pt x="2298255" y="0"/>
                </a:moveTo>
                <a:lnTo>
                  <a:pt x="0" y="0"/>
                </a:lnTo>
                <a:lnTo>
                  <a:pt x="0" y="827372"/>
                </a:lnTo>
                <a:lnTo>
                  <a:pt x="2298255" y="827372"/>
                </a:lnTo>
                <a:lnTo>
                  <a:pt x="2298255"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pic>
        <p:nvPicPr>
          <p:cNvPr id="11" name="Picture 11">
            <a:extLst>
              <a:ext uri="{FF2B5EF4-FFF2-40B4-BE49-F238E27FC236}">
                <a16:creationId xmlns:a16="http://schemas.microsoft.com/office/drawing/2014/main" id="{3565BFD6-B670-757C-B333-09B4C4733EFE}"/>
              </a:ext>
            </a:extLst>
          </p:cNvPr>
          <p:cNvPicPr>
            <a:picLocks noChangeAspect="1"/>
          </p:cNvPicPr>
          <p:nvPr/>
        </p:nvPicPr>
        <p:blipFill>
          <a:blip r:embed="rId8"/>
          <a:srcRect l="98" r="98"/>
          <a:stretch>
            <a:fillRect/>
          </a:stretch>
        </p:blipFill>
        <p:spPr>
          <a:xfrm>
            <a:off x="1487308" y="1442386"/>
            <a:ext cx="3073210" cy="3073210"/>
          </a:xfrm>
          <a:prstGeom prst="rect">
            <a:avLst/>
          </a:prstGeom>
        </p:spPr>
      </p:pic>
      <p:pic>
        <p:nvPicPr>
          <p:cNvPr id="12" name="Picture 12">
            <a:extLst>
              <a:ext uri="{FF2B5EF4-FFF2-40B4-BE49-F238E27FC236}">
                <a16:creationId xmlns:a16="http://schemas.microsoft.com/office/drawing/2014/main" id="{689D41F5-5D43-479E-A42E-859EC5E7F1DE}"/>
              </a:ext>
            </a:extLst>
          </p:cNvPr>
          <p:cNvPicPr>
            <a:picLocks noChangeAspect="1"/>
          </p:cNvPicPr>
          <p:nvPr/>
        </p:nvPicPr>
        <p:blipFill>
          <a:blip r:embed="rId8"/>
          <a:srcRect l="98" r="98"/>
          <a:stretch>
            <a:fillRect/>
          </a:stretch>
        </p:blipFill>
        <p:spPr>
          <a:xfrm>
            <a:off x="13579482" y="7123187"/>
            <a:ext cx="2738880" cy="2738880"/>
          </a:xfrm>
          <a:prstGeom prst="rect">
            <a:avLst/>
          </a:prstGeom>
        </p:spPr>
      </p:pic>
      <p:sp>
        <p:nvSpPr>
          <p:cNvPr id="13" name="TextBox 13">
            <a:extLst>
              <a:ext uri="{FF2B5EF4-FFF2-40B4-BE49-F238E27FC236}">
                <a16:creationId xmlns:a16="http://schemas.microsoft.com/office/drawing/2014/main" id="{C5BC178F-E43B-DA6D-E448-3F3013C75E02}"/>
              </a:ext>
            </a:extLst>
          </p:cNvPr>
          <p:cNvSpPr txBox="1"/>
          <p:nvPr/>
        </p:nvSpPr>
        <p:spPr>
          <a:xfrm>
            <a:off x="3527662" y="1912482"/>
            <a:ext cx="11232676" cy="724301"/>
          </a:xfrm>
          <a:prstGeom prst="rect">
            <a:avLst/>
          </a:prstGeom>
        </p:spPr>
        <p:txBody>
          <a:bodyPr lIns="0" tIns="0" rIns="0" bIns="0" rtlCol="0" anchor="t">
            <a:spAutoFit/>
          </a:bodyPr>
          <a:lstStyle/>
          <a:p>
            <a:pPr algn="ctr">
              <a:lnSpc>
                <a:spcPts val="6413"/>
              </a:lnSpc>
            </a:pPr>
            <a:r>
              <a:rPr lang="en-US" sz="5300" dirty="0">
                <a:solidFill>
                  <a:srgbClr val="0A8271"/>
                </a:solidFill>
                <a:latin typeface="Bernoru"/>
                <a:ea typeface="Bernoru"/>
                <a:cs typeface="Bernoru"/>
                <a:sym typeface="Bernoru"/>
              </a:rPr>
              <a:t>CONCLUSION</a:t>
            </a:r>
          </a:p>
        </p:txBody>
      </p:sp>
      <p:sp>
        <p:nvSpPr>
          <p:cNvPr id="15" name="Rectangle 1">
            <a:extLst>
              <a:ext uri="{FF2B5EF4-FFF2-40B4-BE49-F238E27FC236}">
                <a16:creationId xmlns:a16="http://schemas.microsoft.com/office/drawing/2014/main" id="{D5E14789-D73A-461A-9019-1D257D69F684}"/>
              </a:ext>
            </a:extLst>
          </p:cNvPr>
          <p:cNvSpPr>
            <a:spLocks noChangeArrowheads="1"/>
          </p:cNvSpPr>
          <p:nvPr/>
        </p:nvSpPr>
        <p:spPr bwMode="auto">
          <a:xfrm>
            <a:off x="3821231" y="3157518"/>
            <a:ext cx="10645538" cy="4722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50" i="0" u="none" strike="noStrike" cap="none" normalizeH="0" baseline="0" dirty="0">
                <a:ln>
                  <a:noFill/>
                </a:ln>
                <a:solidFill>
                  <a:schemeClr val="bg1"/>
                </a:solidFill>
                <a:effectLst/>
                <a:latin typeface="Magnolia Script" panose="020B0604020202020204" charset="0"/>
              </a:rPr>
              <a:t>Zero-Shot Learning helps with diagnosing rare diseases even when training     </a:t>
            </a:r>
            <a:r>
              <a:rPr lang="en-US" altLang="en-US" sz="2250" dirty="0">
                <a:solidFill>
                  <a:schemeClr val="bg1"/>
                </a:solidFill>
                <a:latin typeface="Magnolia Script" panose="020B0604020202020204" charset="0"/>
              </a:rPr>
              <a:t>          </a:t>
            </a:r>
            <a:r>
              <a:rPr kumimoji="0" lang="en-US" altLang="en-US" sz="2250" i="0" u="none" strike="noStrike" cap="none" normalizeH="0" baseline="0" dirty="0">
                <a:ln>
                  <a:noFill/>
                </a:ln>
                <a:solidFill>
                  <a:schemeClr val="bg1"/>
                </a:solidFill>
                <a:effectLst/>
                <a:latin typeface="Magnolia Script" panose="020B0604020202020204" charset="0"/>
              </a:rPr>
              <a:t>data is missing</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50" i="0" u="none" strike="noStrike" cap="none" normalizeH="0" baseline="0" dirty="0">
                <a:ln>
                  <a:noFill/>
                </a:ln>
                <a:solidFill>
                  <a:schemeClr val="bg1"/>
                </a:solidFill>
                <a:effectLst/>
                <a:latin typeface="Magnolia Script" panose="020B0604020202020204" charset="0"/>
              </a:rPr>
              <a:t>It works by comparing patient symptom text with disease descriptions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50" i="0" u="none" strike="noStrike" cap="none" normalizeH="0" baseline="0" dirty="0">
                <a:ln>
                  <a:noFill/>
                </a:ln>
                <a:solidFill>
                  <a:schemeClr val="bg1"/>
                </a:solidFill>
                <a:effectLst/>
                <a:latin typeface="Magnolia Script" panose="020B0604020202020204" charset="0"/>
              </a:rPr>
              <a:t>Using BioBERT, the model understands the meaning behind medical terms and matches them accurately</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50" i="0" u="none" strike="noStrike" cap="none" normalizeH="0" baseline="0" dirty="0">
                <a:ln>
                  <a:noFill/>
                </a:ln>
                <a:solidFill>
                  <a:schemeClr val="bg1"/>
                </a:solidFill>
                <a:effectLst/>
                <a:latin typeface="Magnolia Script" panose="020B0604020202020204" charset="0"/>
              </a:rPr>
              <a:t>This method makes diagnosis faster, more flexible, and doesn’t rely on large datasets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50" i="0" u="none" strike="noStrike" cap="none" normalizeH="0" baseline="0" dirty="0">
                <a:ln>
                  <a:noFill/>
                </a:ln>
                <a:solidFill>
                  <a:schemeClr val="bg1"/>
                </a:solidFill>
                <a:effectLst/>
                <a:latin typeface="Magnolia Script" panose="020B0604020202020204" charset="0"/>
              </a:rPr>
              <a:t>It’s a useful approach for making medical AI more accessible and reliable, especially for conditions that are often overlooked</a:t>
            </a:r>
          </a:p>
        </p:txBody>
      </p:sp>
    </p:spTree>
    <p:extLst>
      <p:ext uri="{BB962C8B-B14F-4D97-AF65-F5344CB8AC3E}">
        <p14:creationId xmlns:p14="http://schemas.microsoft.com/office/powerpoint/2010/main" val="249221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73044" y="4437774"/>
            <a:ext cx="12941913" cy="1335251"/>
          </a:xfrm>
          <a:prstGeom prst="rect">
            <a:avLst/>
          </a:prstGeom>
        </p:spPr>
        <p:txBody>
          <a:bodyPr lIns="0" tIns="0" rIns="0" bIns="0" rtlCol="0" anchor="t">
            <a:spAutoFit/>
          </a:bodyPr>
          <a:lstStyle/>
          <a:p>
            <a:pPr algn="ctr">
              <a:lnSpc>
                <a:spcPts val="10582"/>
              </a:lnSpc>
            </a:pPr>
            <a:r>
              <a:rPr lang="en-US" sz="8267">
                <a:solidFill>
                  <a:srgbClr val="0A8271"/>
                </a:solidFill>
                <a:latin typeface="Bernoru"/>
                <a:ea typeface="Bernoru"/>
                <a:cs typeface="Bernoru"/>
                <a:sym typeface="Bernoru"/>
              </a:rPr>
              <a:t>THANK YOU </a:t>
            </a:r>
          </a:p>
        </p:txBody>
      </p:sp>
      <p:sp>
        <p:nvSpPr>
          <p:cNvPr id="3" name="Freeform 3"/>
          <p:cNvSpPr/>
          <p:nvPr/>
        </p:nvSpPr>
        <p:spPr>
          <a:xfrm flipH="1" flipV="1">
            <a:off x="13068684" y="5143500"/>
            <a:ext cx="5247619" cy="5143500"/>
          </a:xfrm>
          <a:custGeom>
            <a:avLst/>
            <a:gdLst/>
            <a:ahLst/>
            <a:cxnLst/>
            <a:rect l="l" t="t" r="r" b="b"/>
            <a:pathLst>
              <a:path w="5247619" h="5143500">
                <a:moveTo>
                  <a:pt x="5247620" y="5143500"/>
                </a:moveTo>
                <a:lnTo>
                  <a:pt x="0" y="5143500"/>
                </a:lnTo>
                <a:lnTo>
                  <a:pt x="0" y="0"/>
                </a:lnTo>
                <a:lnTo>
                  <a:pt x="5247620" y="0"/>
                </a:lnTo>
                <a:lnTo>
                  <a:pt x="5247620" y="514350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4" name="Freeform 4"/>
          <p:cNvSpPr/>
          <p:nvPr/>
        </p:nvSpPr>
        <p:spPr>
          <a:xfrm>
            <a:off x="0" y="0"/>
            <a:ext cx="5247619" cy="5143500"/>
          </a:xfrm>
          <a:custGeom>
            <a:avLst/>
            <a:gdLst/>
            <a:ahLst/>
            <a:cxnLst/>
            <a:rect l="l" t="t" r="r" b="b"/>
            <a:pathLst>
              <a:path w="5247619" h="5143500">
                <a:moveTo>
                  <a:pt x="0" y="0"/>
                </a:moveTo>
                <a:lnTo>
                  <a:pt x="5247619" y="0"/>
                </a:lnTo>
                <a:lnTo>
                  <a:pt x="5247619" y="5143500"/>
                </a:lnTo>
                <a:lnTo>
                  <a:pt x="0" y="5143500"/>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a:p>
        </p:txBody>
      </p:sp>
      <p:sp>
        <p:nvSpPr>
          <p:cNvPr id="5" name="Freeform 5"/>
          <p:cNvSpPr/>
          <p:nvPr/>
        </p:nvSpPr>
        <p:spPr>
          <a:xfrm>
            <a:off x="1028700" y="8392531"/>
            <a:ext cx="2299632" cy="827867"/>
          </a:xfrm>
          <a:custGeom>
            <a:avLst/>
            <a:gdLst/>
            <a:ahLst/>
            <a:cxnLst/>
            <a:rect l="l" t="t" r="r" b="b"/>
            <a:pathLst>
              <a:path w="2299632" h="827867">
                <a:moveTo>
                  <a:pt x="0" y="0"/>
                </a:moveTo>
                <a:lnTo>
                  <a:pt x="2299632" y="0"/>
                </a:lnTo>
                <a:lnTo>
                  <a:pt x="2299632" y="827868"/>
                </a:lnTo>
                <a:lnTo>
                  <a:pt x="0" y="82786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N"/>
          </a:p>
        </p:txBody>
      </p:sp>
      <p:sp>
        <p:nvSpPr>
          <p:cNvPr id="6" name="Freeform 6"/>
          <p:cNvSpPr/>
          <p:nvPr/>
        </p:nvSpPr>
        <p:spPr>
          <a:xfrm>
            <a:off x="16463119" y="372118"/>
            <a:ext cx="1082024" cy="993495"/>
          </a:xfrm>
          <a:custGeom>
            <a:avLst/>
            <a:gdLst/>
            <a:ahLst/>
            <a:cxnLst/>
            <a:rect l="l" t="t" r="r" b="b"/>
            <a:pathLst>
              <a:path w="1082024" h="993495">
                <a:moveTo>
                  <a:pt x="0" y="0"/>
                </a:moveTo>
                <a:lnTo>
                  <a:pt x="1082024" y="0"/>
                </a:lnTo>
                <a:lnTo>
                  <a:pt x="1082024" y="993495"/>
                </a:lnTo>
                <a:lnTo>
                  <a:pt x="0" y="993495"/>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7" name="Freeform 7"/>
          <p:cNvSpPr/>
          <p:nvPr/>
        </p:nvSpPr>
        <p:spPr>
          <a:xfrm>
            <a:off x="17334129" y="1303421"/>
            <a:ext cx="721352" cy="662333"/>
          </a:xfrm>
          <a:custGeom>
            <a:avLst/>
            <a:gdLst/>
            <a:ahLst/>
            <a:cxnLst/>
            <a:rect l="l" t="t" r="r" b="b"/>
            <a:pathLst>
              <a:path w="721352" h="662333">
                <a:moveTo>
                  <a:pt x="0" y="0"/>
                </a:moveTo>
                <a:lnTo>
                  <a:pt x="721352" y="0"/>
                </a:lnTo>
                <a:lnTo>
                  <a:pt x="721352" y="662333"/>
                </a:lnTo>
                <a:lnTo>
                  <a:pt x="0" y="662333"/>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
        <p:nvSpPr>
          <p:cNvPr id="8" name="Freeform 8"/>
          <p:cNvSpPr/>
          <p:nvPr/>
        </p:nvSpPr>
        <p:spPr>
          <a:xfrm>
            <a:off x="16674133" y="1965754"/>
            <a:ext cx="659996" cy="605996"/>
          </a:xfrm>
          <a:custGeom>
            <a:avLst/>
            <a:gdLst/>
            <a:ahLst/>
            <a:cxnLst/>
            <a:rect l="l" t="t" r="r" b="b"/>
            <a:pathLst>
              <a:path w="659996" h="605996">
                <a:moveTo>
                  <a:pt x="0" y="0"/>
                </a:moveTo>
                <a:lnTo>
                  <a:pt x="659996" y="0"/>
                </a:lnTo>
                <a:lnTo>
                  <a:pt x="659996" y="605996"/>
                </a:lnTo>
                <a:lnTo>
                  <a:pt x="0" y="60599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1004</TotalTime>
  <Words>1100</Words>
  <Application>Microsoft Office PowerPoint</Application>
  <PresentationFormat>Custom</PresentationFormat>
  <Paragraphs>118</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Californian FB</vt:lpstr>
      <vt:lpstr>Calibri</vt:lpstr>
      <vt:lpstr>Aptos</vt:lpstr>
      <vt:lpstr>Bernoru</vt:lpstr>
      <vt:lpstr>Magnolia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Modern Innovations in Medicine Presentation</dc:title>
  <cp:lastModifiedBy>hemanthika balaji</cp:lastModifiedBy>
  <cp:revision>4</cp:revision>
  <dcterms:created xsi:type="dcterms:W3CDTF">2006-08-16T00:00:00Z</dcterms:created>
  <dcterms:modified xsi:type="dcterms:W3CDTF">2025-07-16T06:25:35Z</dcterms:modified>
  <dc:identifier>DAGspg5hgGk</dc:identifier>
</cp:coreProperties>
</file>